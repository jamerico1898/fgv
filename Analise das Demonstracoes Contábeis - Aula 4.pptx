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12192000" cy="6858000"/>
  <p:notesSz cx="6858000" cy="9144000"/>
  <p:embeddedFontLst>
    <p:embeddedFont>
      <p:font typeface="Lato" panose="020F0502020204030203" pitchFamily="34" charset="0"/>
      <p:regular r:id="rId39"/>
      <p:bold r:id="rId40"/>
      <p:italic r:id="rId41"/>
      <p:boldItalic r:id="rId42"/>
    </p:embeddedFont>
    <p:embeddedFont>
      <p:font typeface="Poppins" panose="00000500000000000000" pitchFamily="2" charset="0"/>
      <p:regular r:id="rId43"/>
      <p:bold r:id="rId44"/>
      <p:italic r:id="rId45"/>
      <p:boldItalic r:id="rId4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9BD0E18-C8B0-4DF6-A89D-1BA17AE06AE4}">
  <a:tblStyle styleId="{29BD0E18-C8B0-4DF6-A89D-1BA17AE06AE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4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2.fntdata"/><Relationship Id="rId45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5.fntdata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46" Type="http://schemas.openxmlformats.org/officeDocument/2006/relationships/font" Target="fonts/font8.fntdata"/><Relationship Id="rId20" Type="http://schemas.openxmlformats.org/officeDocument/2006/relationships/slide" Target="slides/slide19.xml"/><Relationship Id="rId41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" name="Google Shape;44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1" name="Google Shape;481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6" name="Google Shape;536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9" name="Google Shape;549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5" name="Google Shape;565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4" name="Google Shape;574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4" name="Google Shape;594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6" name="Google Shape;606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5" name="Google Shape;615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2" name="Google Shape;622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12" Type="http://schemas.openxmlformats.org/officeDocument/2006/relationships/image" Target="../media/image4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11" Type="http://schemas.openxmlformats.org/officeDocument/2006/relationships/image" Target="../media/image42.png"/><Relationship Id="rId5" Type="http://schemas.openxmlformats.org/officeDocument/2006/relationships/image" Target="../media/image38.png"/><Relationship Id="rId10" Type="http://schemas.openxmlformats.org/officeDocument/2006/relationships/image" Target="../media/image41.png"/><Relationship Id="rId4" Type="http://schemas.openxmlformats.org/officeDocument/2006/relationships/image" Target="../media/image37.png"/><Relationship Id="rId9" Type="http://schemas.openxmlformats.org/officeDocument/2006/relationships/image" Target="../media/image4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12" Type="http://schemas.openxmlformats.org/officeDocument/2006/relationships/image" Target="../media/image5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11" Type="http://schemas.openxmlformats.org/officeDocument/2006/relationships/image" Target="../media/image57.png"/><Relationship Id="rId5" Type="http://schemas.openxmlformats.org/officeDocument/2006/relationships/image" Target="../media/image53.png"/><Relationship Id="rId10" Type="http://schemas.openxmlformats.org/officeDocument/2006/relationships/image" Target="../media/image56.png"/><Relationship Id="rId4" Type="http://schemas.openxmlformats.org/officeDocument/2006/relationships/image" Target="../media/image52.png"/><Relationship Id="rId9" Type="http://schemas.openxmlformats.org/officeDocument/2006/relationships/image" Target="../media/image5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3.png"/><Relationship Id="rId4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12" Type="http://schemas.openxmlformats.org/officeDocument/2006/relationships/image" Target="../media/image6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11" Type="http://schemas.openxmlformats.org/officeDocument/2006/relationships/image" Target="../media/image67.png"/><Relationship Id="rId5" Type="http://schemas.openxmlformats.org/officeDocument/2006/relationships/image" Target="../media/image65.png"/><Relationship Id="rId10" Type="http://schemas.openxmlformats.org/officeDocument/2006/relationships/image" Target="../media/image15.png"/><Relationship Id="rId4" Type="http://schemas.openxmlformats.org/officeDocument/2006/relationships/image" Target="../media/image64.png"/><Relationship Id="rId9" Type="http://schemas.openxmlformats.org/officeDocument/2006/relationships/image" Target="../media/image1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3" Type="http://schemas.openxmlformats.org/officeDocument/2006/relationships/image" Target="../media/image81.png"/><Relationship Id="rId7" Type="http://schemas.openxmlformats.org/officeDocument/2006/relationships/image" Target="../media/image8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1645890"/>
            <a:ext cx="11601450" cy="20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Análise de Demonstrações Financeiras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855690"/>
            <a:ext cx="110490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Aula 4: Análise Econômico-Financeira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4594770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Pós-Graduação Executiva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71725"/>
            <a:ext cx="5286375" cy="311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371725"/>
            <a:ext cx="5286375" cy="311467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962025" y="2762250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Módulos 1-4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6724650" y="2762250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Módulos 5-8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962025" y="3305175"/>
            <a:ext cx="4505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4.1.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Visão Geral e Perguntas-Chave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962025" y="3752850"/>
            <a:ext cx="4505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4.2.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Análise Vertical e Horizontal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962025" y="4200525"/>
            <a:ext cx="4505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4.3.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Indicadores de Liquidez e Capital de Giro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962025" y="4648200"/>
            <a:ext cx="4505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4.4.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Indicadores de Endividamento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724650" y="3305175"/>
            <a:ext cx="4505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4.5.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Indicadores de Atividade (Eficiência)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724650" y="3752850"/>
            <a:ext cx="4505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4.6.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Indicadores de Rentabilidade (DuPont)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724650" y="4200525"/>
            <a:ext cx="4505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4.7.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Análise de Geração de Caixa (DFC)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724650" y="4648200"/>
            <a:ext cx="4505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4.8.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Limitações e Boas Práticas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Agenda da Aula 4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/>
          <p:nvPr/>
        </p:nvSpPr>
        <p:spPr>
          <a:xfrm>
            <a:off x="5619750" y="2698402"/>
            <a:ext cx="952500" cy="47625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4470796" y="3031777"/>
            <a:ext cx="3250406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Módulo 4.1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4548187" y="4079527"/>
            <a:ext cx="309562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Visão Geral e Perguntas-Chave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1809750" y="2298650"/>
            <a:ext cx="85725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"Avaliar o </a:t>
            </a:r>
            <a:r>
              <a:rPr lang="en-US" sz="18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desempenho</a:t>
            </a:r>
            <a:r>
              <a:rPr lang="en-US" sz="18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8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risco</a:t>
            </a:r>
            <a:r>
              <a:rPr lang="en-US" sz="18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8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retorno</a:t>
            </a:r>
            <a:r>
              <a:rPr lang="en-US" sz="18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 a </a:t>
            </a:r>
            <a:r>
              <a:rPr lang="en-US" sz="18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sustentabilidade</a:t>
            </a:r>
            <a:r>
              <a:rPr lang="en-US" sz="18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financeira da organização."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2286000" y="3410991"/>
            <a:ext cx="8096250" cy="356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Desempenho: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 empresa está atingindo seus objetivos estratégicos e operacionais?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2286000" y="4005262"/>
            <a:ext cx="8096250" cy="356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Risco: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Quais são as ameaças à sua saúde financeira de curto e longo prazo?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2286000" y="4599533"/>
            <a:ext cx="8096250" cy="356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Retorno: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O capital investido (próprio e de terceiros) está gerando valor adequado?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2286000" y="5193803"/>
            <a:ext cx="8096250" cy="356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Sustentabilidade: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O modelo de negócio pode manter esse desempenho no futuro?</a:t>
            </a:r>
            <a:endParaRPr/>
          </a:p>
        </p:txBody>
      </p:sp>
      <p:pic>
        <p:nvPicPr>
          <p:cNvPr id="125" name="Google Shape;12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3458616"/>
            <a:ext cx="2857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9750" y="4052887"/>
            <a:ext cx="2857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09750" y="4647158"/>
            <a:ext cx="2857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809750" y="5241428"/>
            <a:ext cx="28575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4.1. O Objetivo Central da Análise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70794"/>
            <a:ext cx="2547937" cy="37165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05187" y="2070794"/>
            <a:ext cx="2547937" cy="37165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38875" y="2070794"/>
            <a:ext cx="2547937" cy="37165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72562" y="2070794"/>
            <a:ext cx="2547937" cy="37165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66775" y="2366069"/>
            <a:ext cx="676275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/>
        </p:nvSpPr>
        <p:spPr>
          <a:xfrm>
            <a:off x="866775" y="3242369"/>
            <a:ext cx="1020127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Liquidez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866775" y="3890069"/>
            <a:ext cx="1957387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 empresa é líquida? Consegue honrar seus compromissos de curto prazo?</a:t>
            </a:r>
            <a:endParaRPr/>
          </a:p>
        </p:txBody>
      </p:sp>
      <p:pic>
        <p:nvPicPr>
          <p:cNvPr id="142" name="Google Shape;142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700462" y="2366069"/>
            <a:ext cx="676275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 txBox="1"/>
          <p:nvPr/>
        </p:nvSpPr>
        <p:spPr>
          <a:xfrm>
            <a:off x="3700462" y="3242369"/>
            <a:ext cx="1230153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Solvência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3700462" y="3890069"/>
            <a:ext cx="1957387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 empresa é solvente no longo prazo? A estrutura de capital é sustentável?</a:t>
            </a:r>
            <a:endParaRPr/>
          </a:p>
        </p:txBody>
      </p:sp>
      <p:pic>
        <p:nvPicPr>
          <p:cNvPr id="145" name="Google Shape;145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534150" y="2366069"/>
            <a:ext cx="714375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/>
          <p:cNvSpPr txBox="1"/>
          <p:nvPr/>
        </p:nvSpPr>
        <p:spPr>
          <a:xfrm>
            <a:off x="6534150" y="3242369"/>
            <a:ext cx="122015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Eficiência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6534150" y="3890069"/>
            <a:ext cx="1957387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 empresa é eficiente na utilização de seus ativos para gerar vendas?</a:t>
            </a:r>
            <a:endParaRPr/>
          </a:p>
        </p:txBody>
      </p:sp>
      <p:pic>
        <p:nvPicPr>
          <p:cNvPr id="148" name="Google Shape;148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367837" y="2366069"/>
            <a:ext cx="676275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 txBox="1"/>
          <p:nvPr/>
        </p:nvSpPr>
        <p:spPr>
          <a:xfrm>
            <a:off x="9367837" y="3242369"/>
            <a:ext cx="2055256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Rentabilidade &amp; Caixa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9367837" y="4223444"/>
            <a:ext cx="1957387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É rentável para o acionista? Gera caixa suficiente para crescer e pagar dividendos?</a:t>
            </a:r>
            <a:endParaRPr/>
          </a:p>
        </p:txBody>
      </p:sp>
      <p:pic>
        <p:nvPicPr>
          <p:cNvPr id="151" name="Google Shape;151;p1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09650" y="2527994"/>
            <a:ext cx="3905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7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843337" y="2527994"/>
            <a:ext cx="3905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7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677025" y="2527994"/>
            <a:ext cx="4286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9510712" y="2527994"/>
            <a:ext cx="3905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7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4.1. As Grandes Perguntas do Executivo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8"/>
          <p:cNvSpPr txBox="1"/>
          <p:nvPr/>
        </p:nvSpPr>
        <p:spPr>
          <a:xfrm>
            <a:off x="571500" y="3076575"/>
            <a:ext cx="528637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0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571500" y="4505325"/>
            <a:ext cx="52863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Ferramentas Principais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6334125" y="1933872"/>
            <a:ext cx="5550693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Como vamos responder a essas perguntas?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6334125" y="3038772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Usaremos 5 instrumentos principais que se complementam: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6619875" y="3534072"/>
            <a:ext cx="50006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Análise Horizontal (AH)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6619875" y="4012108"/>
            <a:ext cx="50006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Análise Vertical (AV)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6619875" y="4490144"/>
            <a:ext cx="50006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Indicadores (Índices)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6619875" y="4968180"/>
            <a:ext cx="50006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Modelo DuPont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6619875" y="5446216"/>
            <a:ext cx="50006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Análise de Fluxo de Caixa (DFC)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6334125" y="3534072"/>
            <a:ext cx="13335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6334125" y="4012108"/>
            <a:ext cx="13335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6334125" y="4490144"/>
            <a:ext cx="13335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6334125" y="4968180"/>
            <a:ext cx="13335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6334125" y="5446216"/>
            <a:ext cx="13335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4.1. Nossos Instrumentos de Análise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9"/>
          <p:cNvSpPr/>
          <p:nvPr/>
        </p:nvSpPr>
        <p:spPr>
          <a:xfrm>
            <a:off x="5619750" y="2698402"/>
            <a:ext cx="952500" cy="47625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9"/>
          <p:cNvSpPr txBox="1"/>
          <p:nvPr/>
        </p:nvSpPr>
        <p:spPr>
          <a:xfrm>
            <a:off x="4415790" y="3031777"/>
            <a:ext cx="336042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Módulo 4.2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4681537" y="4079527"/>
            <a:ext cx="282892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Análise Vertical e Horizontal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43112"/>
            <a:ext cx="5286375" cy="377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043112"/>
            <a:ext cx="5286375" cy="37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0"/>
          <p:cNvSpPr txBox="1"/>
          <p:nvPr/>
        </p:nvSpPr>
        <p:spPr>
          <a:xfrm>
            <a:off x="962025" y="2433637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33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No Balanço Patrimonial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962025" y="3024187"/>
            <a:ext cx="45053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Revela a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estrutura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ativos (onde investe) e passivos/PL (como se financia).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962025" y="3824287"/>
            <a:ext cx="4505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Fórmula: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(Conta / Total do Ativo)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962025" y="4319587"/>
            <a:ext cx="45053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Pergunta-chave: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"Quanto do meu ativo está concentrado em 'Contas a Receber' ou 'Estoques'?"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6724650" y="2433637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0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Na DRE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6724650" y="3024187"/>
            <a:ext cx="45053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Revela a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estrutura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custos e despesas. É a análise das margens.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6724650" y="3824287"/>
            <a:ext cx="4505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Fórmula: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(Conta / Receita Líquida)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6724650" y="4319587"/>
            <a:ext cx="45053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Pergunta-chave: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"Qual é minha Margem Bruta?" ou "Quanto a Despesa Administrativa consome da minha receita?"</a:t>
            </a:r>
            <a:endParaRPr/>
          </a:p>
        </p:txBody>
      </p:sp>
      <p:pic>
        <p:nvPicPr>
          <p:cNvPr id="200" name="Google Shape;200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2490787"/>
            <a:ext cx="3333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24650" y="2490787"/>
            <a:ext cx="2000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0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4.2. Análise Vertical (AV) - A Foto da Estrutura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95487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1"/>
          <p:cNvSpPr txBox="1"/>
          <p:nvPr/>
        </p:nvSpPr>
        <p:spPr>
          <a:xfrm>
            <a:off x="571500" y="1995487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A Análise da Tendência (Ano vs. Ano)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571500" y="2586037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Foca no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crescimento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 na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tendência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das contas ao longo do tempo.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571500" y="3386137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Fórmula: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(Valor Ano N / Valor Ano N-1) - 1</a:t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571500" y="3976687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Sinais de Alerta (Exemplos):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742950" y="451961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14" name="Google Shape;214;p21"/>
          <p:cNvSpPr txBox="1"/>
          <p:nvPr/>
        </p:nvSpPr>
        <p:spPr>
          <a:xfrm>
            <a:off x="857250" y="4519612"/>
            <a:ext cx="5000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Crescimento de despesas mais rápido que a receita.</a:t>
            </a:r>
            <a:endParaRPr/>
          </a:p>
        </p:txBody>
      </p:sp>
      <p:sp>
        <p:nvSpPr>
          <p:cNvPr id="215" name="Google Shape;215;p21"/>
          <p:cNvSpPr txBox="1"/>
          <p:nvPr/>
        </p:nvSpPr>
        <p:spPr>
          <a:xfrm>
            <a:off x="742950" y="496728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16" name="Google Shape;216;p21"/>
          <p:cNvSpPr txBox="1"/>
          <p:nvPr/>
        </p:nvSpPr>
        <p:spPr>
          <a:xfrm>
            <a:off x="857250" y="4967287"/>
            <a:ext cx="5000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Crescimento da dívida mais rápido que o patrimônio.</a:t>
            </a:r>
            <a:endParaRPr/>
          </a:p>
        </p:txBody>
      </p:sp>
      <p:sp>
        <p:nvSpPr>
          <p:cNvPr id="217" name="Google Shape;217;p21"/>
          <p:cNvSpPr txBox="1"/>
          <p:nvPr/>
        </p:nvSpPr>
        <p:spPr>
          <a:xfrm>
            <a:off x="742950" y="541496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18" name="Google Shape;218;p21"/>
          <p:cNvSpPr txBox="1"/>
          <p:nvPr/>
        </p:nvSpPr>
        <p:spPr>
          <a:xfrm>
            <a:off x="857250" y="5414962"/>
            <a:ext cx="5000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Compressão de margens ao longo dos anos.</a:t>
            </a:r>
            <a:endParaRPr/>
          </a:p>
        </p:txBody>
      </p:sp>
      <p:pic>
        <p:nvPicPr>
          <p:cNvPr id="219" name="Google Shape;219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2005012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1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4.2. Análise Horizontal (AH) - O Filme da Evolução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6" name="Google Shape;226;p22"/>
          <p:cNvGraphicFramePr/>
          <p:nvPr/>
        </p:nvGraphicFramePr>
        <p:xfrm>
          <a:off x="571500" y="1743075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{29BD0E18-C8B0-4DF6-A89D-1BA17AE06AE4}</a:tableStyleId>
              </a:tblPr>
              <a:tblGrid>
                <a:gridCol w="2365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1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90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0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38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2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30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Conta (DRE)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Ano 1 (R$)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AV (Ano 1)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Ano 2 (R$)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AV (Ano 2)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0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Receita Líquida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1.000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100,0%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1.200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100,0%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596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+20%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0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Custo (CMV)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(600)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60,0%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(780)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65,0%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DC2626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+30%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0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Lucro Bruto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40,0%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420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DC2626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35,0%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+5%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0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Desp. Vendas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(200)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20,0%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(220)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18,3%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+10%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0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Lucro Operacional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20,0%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DC2626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16,7%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27" name="Google Shape;227;p22"/>
          <p:cNvSpPr txBox="1"/>
          <p:nvPr/>
        </p:nvSpPr>
        <p:spPr>
          <a:xfrm>
            <a:off x="571500" y="5714851"/>
            <a:ext cx="11049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1" u="none" strike="noStrike" cap="none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Discussão:</a:t>
            </a:r>
            <a:r>
              <a:rPr lang="en-US" sz="1350" b="0" i="1" u="none" strike="noStrike" cap="non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 que aconteceu? A receita cresceu 20% (bom!), mas o custo disparou 30% (AH). Isso causou uma </a:t>
            </a:r>
            <a:r>
              <a:rPr lang="en-US" sz="1350" b="1" i="1" u="none" strike="noStrike" cap="none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compressão de margens</a:t>
            </a:r>
            <a:r>
              <a:rPr lang="en-US" sz="1350" b="0" i="1" u="none" strike="noStrike" cap="non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 Margem Bruta caiu de 40% para 35% (AV). </a:t>
            </a:r>
            <a:endParaRPr/>
          </a:p>
        </p:txBody>
      </p:sp>
      <p:sp>
        <p:nvSpPr>
          <p:cNvPr id="228" name="Google Shape;228;p22"/>
          <p:cNvSpPr/>
          <p:nvPr/>
        </p:nvSpPr>
        <p:spPr>
          <a:xfrm>
            <a:off x="571500" y="2386012"/>
            <a:ext cx="236577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2"/>
          <p:cNvSpPr/>
          <p:nvPr/>
        </p:nvSpPr>
        <p:spPr>
          <a:xfrm>
            <a:off x="2937271" y="2386012"/>
            <a:ext cx="18414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2"/>
          <p:cNvSpPr/>
          <p:nvPr/>
        </p:nvSpPr>
        <p:spPr>
          <a:xfrm>
            <a:off x="4778722" y="2386012"/>
            <a:ext cx="18902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2"/>
          <p:cNvSpPr/>
          <p:nvPr/>
        </p:nvSpPr>
        <p:spPr>
          <a:xfrm>
            <a:off x="6668988" y="2386012"/>
            <a:ext cx="18902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2"/>
          <p:cNvSpPr/>
          <p:nvPr/>
        </p:nvSpPr>
        <p:spPr>
          <a:xfrm>
            <a:off x="8559254" y="2386012"/>
            <a:ext cx="19389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2"/>
          <p:cNvSpPr/>
          <p:nvPr/>
        </p:nvSpPr>
        <p:spPr>
          <a:xfrm>
            <a:off x="10498187" y="2386012"/>
            <a:ext cx="11223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2"/>
          <p:cNvSpPr/>
          <p:nvPr/>
        </p:nvSpPr>
        <p:spPr>
          <a:xfrm>
            <a:off x="571500" y="3012727"/>
            <a:ext cx="236577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2"/>
          <p:cNvSpPr/>
          <p:nvPr/>
        </p:nvSpPr>
        <p:spPr>
          <a:xfrm>
            <a:off x="2937271" y="3012727"/>
            <a:ext cx="18414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2"/>
          <p:cNvSpPr/>
          <p:nvPr/>
        </p:nvSpPr>
        <p:spPr>
          <a:xfrm>
            <a:off x="4778722" y="3012727"/>
            <a:ext cx="18902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2"/>
          <p:cNvSpPr/>
          <p:nvPr/>
        </p:nvSpPr>
        <p:spPr>
          <a:xfrm>
            <a:off x="6668988" y="3012727"/>
            <a:ext cx="18902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2"/>
          <p:cNvSpPr/>
          <p:nvPr/>
        </p:nvSpPr>
        <p:spPr>
          <a:xfrm>
            <a:off x="8559254" y="3012727"/>
            <a:ext cx="19389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2"/>
          <p:cNvSpPr/>
          <p:nvPr/>
        </p:nvSpPr>
        <p:spPr>
          <a:xfrm>
            <a:off x="10498187" y="3012727"/>
            <a:ext cx="11223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2"/>
          <p:cNvSpPr/>
          <p:nvPr/>
        </p:nvSpPr>
        <p:spPr>
          <a:xfrm>
            <a:off x="571500" y="3639442"/>
            <a:ext cx="236577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2"/>
          <p:cNvSpPr/>
          <p:nvPr/>
        </p:nvSpPr>
        <p:spPr>
          <a:xfrm>
            <a:off x="2937271" y="3639442"/>
            <a:ext cx="18414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2"/>
          <p:cNvSpPr/>
          <p:nvPr/>
        </p:nvSpPr>
        <p:spPr>
          <a:xfrm>
            <a:off x="4778722" y="3639442"/>
            <a:ext cx="18902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2"/>
          <p:cNvSpPr/>
          <p:nvPr/>
        </p:nvSpPr>
        <p:spPr>
          <a:xfrm>
            <a:off x="6668988" y="3639442"/>
            <a:ext cx="18902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2"/>
          <p:cNvSpPr/>
          <p:nvPr/>
        </p:nvSpPr>
        <p:spPr>
          <a:xfrm>
            <a:off x="8559254" y="3639442"/>
            <a:ext cx="19389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2"/>
          <p:cNvSpPr/>
          <p:nvPr/>
        </p:nvSpPr>
        <p:spPr>
          <a:xfrm>
            <a:off x="10498187" y="3639442"/>
            <a:ext cx="11223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2"/>
          <p:cNvSpPr/>
          <p:nvPr/>
        </p:nvSpPr>
        <p:spPr>
          <a:xfrm>
            <a:off x="571500" y="4266158"/>
            <a:ext cx="236577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2"/>
          <p:cNvSpPr/>
          <p:nvPr/>
        </p:nvSpPr>
        <p:spPr>
          <a:xfrm>
            <a:off x="2937271" y="4266158"/>
            <a:ext cx="18414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2"/>
          <p:cNvSpPr/>
          <p:nvPr/>
        </p:nvSpPr>
        <p:spPr>
          <a:xfrm>
            <a:off x="4778722" y="4266158"/>
            <a:ext cx="18902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2"/>
          <p:cNvSpPr/>
          <p:nvPr/>
        </p:nvSpPr>
        <p:spPr>
          <a:xfrm>
            <a:off x="6668988" y="4266158"/>
            <a:ext cx="18902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2"/>
          <p:cNvSpPr/>
          <p:nvPr/>
        </p:nvSpPr>
        <p:spPr>
          <a:xfrm>
            <a:off x="8559254" y="4266158"/>
            <a:ext cx="19389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2"/>
          <p:cNvSpPr/>
          <p:nvPr/>
        </p:nvSpPr>
        <p:spPr>
          <a:xfrm>
            <a:off x="10498187" y="4266158"/>
            <a:ext cx="11223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2"/>
          <p:cNvSpPr/>
          <p:nvPr/>
        </p:nvSpPr>
        <p:spPr>
          <a:xfrm>
            <a:off x="571500" y="4892873"/>
            <a:ext cx="236577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2"/>
          <p:cNvSpPr/>
          <p:nvPr/>
        </p:nvSpPr>
        <p:spPr>
          <a:xfrm>
            <a:off x="2937271" y="4892873"/>
            <a:ext cx="18414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2"/>
          <p:cNvSpPr/>
          <p:nvPr/>
        </p:nvSpPr>
        <p:spPr>
          <a:xfrm>
            <a:off x="4778722" y="4892873"/>
            <a:ext cx="18902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2"/>
          <p:cNvSpPr/>
          <p:nvPr/>
        </p:nvSpPr>
        <p:spPr>
          <a:xfrm>
            <a:off x="6668988" y="4892873"/>
            <a:ext cx="18902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2"/>
          <p:cNvSpPr/>
          <p:nvPr/>
        </p:nvSpPr>
        <p:spPr>
          <a:xfrm>
            <a:off x="8559254" y="4892873"/>
            <a:ext cx="19389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2"/>
          <p:cNvSpPr/>
          <p:nvPr/>
        </p:nvSpPr>
        <p:spPr>
          <a:xfrm>
            <a:off x="10498187" y="4892873"/>
            <a:ext cx="11223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2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4.2. Exercício: Análise V/H (Cia. Exemplo S.A.)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3"/>
          <p:cNvSpPr/>
          <p:nvPr/>
        </p:nvSpPr>
        <p:spPr>
          <a:xfrm>
            <a:off x="5619750" y="2698402"/>
            <a:ext cx="952500" cy="47625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3"/>
          <p:cNvSpPr txBox="1"/>
          <p:nvPr/>
        </p:nvSpPr>
        <p:spPr>
          <a:xfrm>
            <a:off x="4400788" y="3031777"/>
            <a:ext cx="3390423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Módulo 4.3</a:t>
            </a:r>
            <a:endParaRPr/>
          </a:p>
        </p:txBody>
      </p:sp>
      <p:sp>
        <p:nvSpPr>
          <p:cNvPr id="267" name="Google Shape;267;p23"/>
          <p:cNvSpPr txBox="1"/>
          <p:nvPr/>
        </p:nvSpPr>
        <p:spPr>
          <a:xfrm>
            <a:off x="4076700" y="4079527"/>
            <a:ext cx="40386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Indicadores de Liquidez e Capital de Giro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75594"/>
            <a:ext cx="3492549" cy="37260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375594"/>
            <a:ext cx="3492549" cy="37260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375594"/>
            <a:ext cx="3492549" cy="37260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670869"/>
            <a:ext cx="59055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4"/>
          <p:cNvSpPr txBox="1"/>
          <p:nvPr/>
        </p:nvSpPr>
        <p:spPr>
          <a:xfrm>
            <a:off x="866775" y="3547169"/>
            <a:ext cx="2170271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Liquidez Corrente</a:t>
            </a:r>
            <a:endParaRPr/>
          </a:p>
        </p:txBody>
      </p:sp>
      <p:sp>
        <p:nvSpPr>
          <p:cNvPr id="278" name="Google Shape;278;p24"/>
          <p:cNvSpPr txBox="1"/>
          <p:nvPr/>
        </p:nvSpPr>
        <p:spPr>
          <a:xfrm>
            <a:off x="866775" y="4194869"/>
            <a:ext cx="28194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(Ativo Circulante / Passivo Circulante)</a:t>
            </a:r>
            <a:endParaRPr/>
          </a:p>
        </p:txBody>
      </p:sp>
      <p:sp>
        <p:nvSpPr>
          <p:cNvPr id="279" name="Google Shape;279;p24"/>
          <p:cNvSpPr txBox="1"/>
          <p:nvPr/>
        </p:nvSpPr>
        <p:spPr>
          <a:xfrm>
            <a:off x="866775" y="4812059"/>
            <a:ext cx="2901999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Visão completa. "Tenho R$ X para cada R$ 1 de dívida de curto prazo."</a:t>
            </a:r>
            <a:endParaRPr/>
          </a:p>
        </p:txBody>
      </p:sp>
      <p:pic>
        <p:nvPicPr>
          <p:cNvPr id="280" name="Google Shape;280;p2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5074" y="2670869"/>
            <a:ext cx="504825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4"/>
          <p:cNvSpPr txBox="1"/>
          <p:nvPr/>
        </p:nvSpPr>
        <p:spPr>
          <a:xfrm>
            <a:off x="4645074" y="3547169"/>
            <a:ext cx="1690211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Liquidez Seca</a:t>
            </a:r>
            <a:endParaRPr/>
          </a:p>
        </p:txBody>
      </p:sp>
      <p:sp>
        <p:nvSpPr>
          <p:cNvPr id="282" name="Google Shape;282;p24"/>
          <p:cNvSpPr txBox="1"/>
          <p:nvPr/>
        </p:nvSpPr>
        <p:spPr>
          <a:xfrm>
            <a:off x="4645074" y="4194869"/>
            <a:ext cx="14668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(AC - Estoques) / PC</a:t>
            </a:r>
            <a:endParaRPr/>
          </a:p>
        </p:txBody>
      </p:sp>
      <p:sp>
        <p:nvSpPr>
          <p:cNvPr id="283" name="Google Shape;283;p24"/>
          <p:cNvSpPr txBox="1"/>
          <p:nvPr/>
        </p:nvSpPr>
        <p:spPr>
          <a:xfrm>
            <a:off x="4645074" y="4812059"/>
            <a:ext cx="2901999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Visão mais conservadora. "E se eu não vender meu estoque, ainda consigo pagar?"</a:t>
            </a:r>
            <a:endParaRPr/>
          </a:p>
        </p:txBody>
      </p:sp>
      <p:pic>
        <p:nvPicPr>
          <p:cNvPr id="284" name="Google Shape;284;p2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423374" y="2670869"/>
            <a:ext cx="59055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4"/>
          <p:cNvSpPr txBox="1"/>
          <p:nvPr/>
        </p:nvSpPr>
        <p:spPr>
          <a:xfrm>
            <a:off x="8423374" y="3547169"/>
            <a:ext cx="2220277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Liquidez Imediata</a:t>
            </a:r>
            <a:endParaRPr/>
          </a:p>
        </p:txBody>
      </p:sp>
      <p:sp>
        <p:nvSpPr>
          <p:cNvPr id="286" name="Google Shape;286;p24"/>
          <p:cNvSpPr txBox="1"/>
          <p:nvPr/>
        </p:nvSpPr>
        <p:spPr>
          <a:xfrm>
            <a:off x="8423374" y="4194869"/>
            <a:ext cx="14478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(Caixa e Equiv. / PC)</a:t>
            </a:r>
            <a:endParaRPr/>
          </a:p>
        </p:txBody>
      </p:sp>
      <p:sp>
        <p:nvSpPr>
          <p:cNvPr id="287" name="Google Shape;287;p24"/>
          <p:cNvSpPr txBox="1"/>
          <p:nvPr/>
        </p:nvSpPr>
        <p:spPr>
          <a:xfrm>
            <a:off x="8423374" y="4812059"/>
            <a:ext cx="2901999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 "prova de fogo". "O que eu tenho em caixa HOJE para pagar dívidas."</a:t>
            </a:r>
            <a:endParaRPr/>
          </a:p>
        </p:txBody>
      </p:sp>
      <p:pic>
        <p:nvPicPr>
          <p:cNvPr id="288" name="Google Shape;288;p2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09650" y="2832794"/>
            <a:ext cx="3048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2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787949" y="2832794"/>
            <a:ext cx="21907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566249" y="2832794"/>
            <a:ext cx="3048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4"/>
          <p:cNvSpPr txBox="1"/>
          <p:nvPr/>
        </p:nvSpPr>
        <p:spPr>
          <a:xfrm>
            <a:off x="571500" y="571500"/>
            <a:ext cx="11601450" cy="123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4.3. Indicadores de Liquidez (O "Termômetro" de Curto Prazo)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Google Shape;296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05050"/>
            <a:ext cx="5286375" cy="386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305050"/>
            <a:ext cx="5286375" cy="386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5"/>
          <p:cNvSpPr txBox="1"/>
          <p:nvPr/>
        </p:nvSpPr>
        <p:spPr>
          <a:xfrm>
            <a:off x="962025" y="2695575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Capital de Giro Líquido (CGL)</a:t>
            </a:r>
            <a:endParaRPr/>
          </a:p>
        </p:txBody>
      </p:sp>
      <p:sp>
        <p:nvSpPr>
          <p:cNvPr id="300" name="Google Shape;300;p25"/>
          <p:cNvSpPr txBox="1"/>
          <p:nvPr/>
        </p:nvSpPr>
        <p:spPr>
          <a:xfrm>
            <a:off x="962025" y="3286125"/>
            <a:ext cx="4505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CGL = Ativo Circulante - Passivo Circulante</a:t>
            </a:r>
            <a:endParaRPr/>
          </a:p>
        </p:txBody>
      </p:sp>
      <p:sp>
        <p:nvSpPr>
          <p:cNvPr id="301" name="Google Shape;301;p25"/>
          <p:cNvSpPr txBox="1"/>
          <p:nvPr/>
        </p:nvSpPr>
        <p:spPr>
          <a:xfrm>
            <a:off x="962025" y="3781425"/>
            <a:ext cx="45053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É o "colchão" financeiro de curto prazo. É uma medida de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volume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(R$). Mostra a folga (ou aperto) que a empresa tem.</a:t>
            </a:r>
            <a:endParaRPr/>
          </a:p>
        </p:txBody>
      </p:sp>
      <p:sp>
        <p:nvSpPr>
          <p:cNvPr id="302" name="Google Shape;302;p25"/>
          <p:cNvSpPr txBox="1"/>
          <p:nvPr/>
        </p:nvSpPr>
        <p:spPr>
          <a:xfrm>
            <a:off x="962025" y="4886325"/>
            <a:ext cx="4505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É a *fonte* de financiamento.</a:t>
            </a:r>
            <a:endParaRPr/>
          </a:p>
        </p:txBody>
      </p:sp>
      <p:sp>
        <p:nvSpPr>
          <p:cNvPr id="303" name="Google Shape;303;p25"/>
          <p:cNvSpPr txBox="1"/>
          <p:nvPr/>
        </p:nvSpPr>
        <p:spPr>
          <a:xfrm>
            <a:off x="6724650" y="2695575"/>
            <a:ext cx="4730591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Necessidade de Capital de Giro (NCG)</a:t>
            </a:r>
            <a:endParaRPr/>
          </a:p>
        </p:txBody>
      </p:sp>
      <p:sp>
        <p:nvSpPr>
          <p:cNvPr id="304" name="Google Shape;304;p25"/>
          <p:cNvSpPr txBox="1"/>
          <p:nvPr/>
        </p:nvSpPr>
        <p:spPr>
          <a:xfrm>
            <a:off x="6724650" y="3686175"/>
            <a:ext cx="45053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NCG = (Contas a Receber + Estoques) - (Fornecedores)</a:t>
            </a:r>
            <a:endParaRPr/>
          </a:p>
        </p:txBody>
      </p:sp>
      <p:sp>
        <p:nvSpPr>
          <p:cNvPr id="305" name="Google Shape;305;p25"/>
          <p:cNvSpPr txBox="1"/>
          <p:nvPr/>
        </p:nvSpPr>
        <p:spPr>
          <a:xfrm>
            <a:off x="6724650" y="4486275"/>
            <a:ext cx="45053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É o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quanto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 operação "consome" de caixa para girar. É o investimento operacional líquido.</a:t>
            </a:r>
            <a:endParaRPr/>
          </a:p>
        </p:txBody>
      </p:sp>
      <p:sp>
        <p:nvSpPr>
          <p:cNvPr id="306" name="Google Shape;306;p25"/>
          <p:cNvSpPr txBox="1"/>
          <p:nvPr/>
        </p:nvSpPr>
        <p:spPr>
          <a:xfrm>
            <a:off x="6724650" y="5286375"/>
            <a:ext cx="4505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É a *aplicação* de recursos.</a:t>
            </a:r>
            <a:endParaRPr/>
          </a:p>
        </p:txBody>
      </p:sp>
      <p:pic>
        <p:nvPicPr>
          <p:cNvPr id="307" name="Google Shape;307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2752725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2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24650" y="2752725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5"/>
          <p:cNvSpPr txBox="1"/>
          <p:nvPr/>
        </p:nvSpPr>
        <p:spPr>
          <a:xfrm>
            <a:off x="571500" y="571500"/>
            <a:ext cx="11601450" cy="123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4.3. Capital de Giro Líquido (CGL) vs. Necessidade (NCG)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Google Shape;314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62125"/>
            <a:ext cx="3492549" cy="4333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1762125"/>
            <a:ext cx="3492549" cy="4333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2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1762125"/>
            <a:ext cx="3492549" cy="4333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2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057400"/>
            <a:ext cx="676275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26"/>
          <p:cNvSpPr txBox="1"/>
          <p:nvPr/>
        </p:nvSpPr>
        <p:spPr>
          <a:xfrm>
            <a:off x="866775" y="2933700"/>
            <a:ext cx="3047099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Ciclo Operacional (PME + PMR)</a:t>
            </a:r>
            <a:endParaRPr/>
          </a:p>
        </p:txBody>
      </p:sp>
      <p:sp>
        <p:nvSpPr>
          <p:cNvPr id="320" name="Google Shape;320;p26"/>
          <p:cNvSpPr txBox="1"/>
          <p:nvPr/>
        </p:nvSpPr>
        <p:spPr>
          <a:xfrm>
            <a:off x="866775" y="3914775"/>
            <a:ext cx="2901999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PME (Prazo Médio Estocagem) + PMR (Prazo Médio Recebimento).</a:t>
            </a:r>
            <a:endParaRPr/>
          </a:p>
        </p:txBody>
      </p:sp>
      <p:sp>
        <p:nvSpPr>
          <p:cNvPr id="321" name="Google Shape;321;p26"/>
          <p:cNvSpPr txBox="1"/>
          <p:nvPr/>
        </p:nvSpPr>
        <p:spPr>
          <a:xfrm>
            <a:off x="866775" y="4806255"/>
            <a:ext cx="2901999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Total de dias desde a compra da matéria-prima até o recebimento do cliente.</a:t>
            </a:r>
            <a:endParaRPr/>
          </a:p>
        </p:txBody>
      </p:sp>
      <p:pic>
        <p:nvPicPr>
          <p:cNvPr id="322" name="Google Shape;322;p2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5074" y="2057400"/>
            <a:ext cx="59055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6"/>
          <p:cNvSpPr txBox="1"/>
          <p:nvPr/>
        </p:nvSpPr>
        <p:spPr>
          <a:xfrm>
            <a:off x="4645074" y="2933700"/>
            <a:ext cx="3047099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Prazo do Fornecedor (PMP)</a:t>
            </a:r>
            <a:endParaRPr/>
          </a:p>
        </p:txBody>
      </p:sp>
      <p:sp>
        <p:nvSpPr>
          <p:cNvPr id="324" name="Google Shape;324;p26"/>
          <p:cNvSpPr txBox="1"/>
          <p:nvPr/>
        </p:nvSpPr>
        <p:spPr>
          <a:xfrm>
            <a:off x="4645074" y="3914775"/>
            <a:ext cx="23526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PMP (Prazo Médio Pagamento).</a:t>
            </a:r>
            <a:endParaRPr/>
          </a:p>
        </p:txBody>
      </p:sp>
      <p:sp>
        <p:nvSpPr>
          <p:cNvPr id="325" name="Google Shape;325;p26"/>
          <p:cNvSpPr txBox="1"/>
          <p:nvPr/>
        </p:nvSpPr>
        <p:spPr>
          <a:xfrm>
            <a:off x="4645074" y="4531965"/>
            <a:ext cx="2901999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 "fôlego" que o fornecedor concede. É o financiamento gratuito da operação.</a:t>
            </a:r>
            <a:endParaRPr/>
          </a:p>
        </p:txBody>
      </p:sp>
      <p:pic>
        <p:nvPicPr>
          <p:cNvPr id="326" name="Google Shape;326;p2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3374" y="2057400"/>
            <a:ext cx="542925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26"/>
          <p:cNvSpPr txBox="1"/>
          <p:nvPr/>
        </p:nvSpPr>
        <p:spPr>
          <a:xfrm>
            <a:off x="8423374" y="2933700"/>
            <a:ext cx="3020377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Ciclo Financeiro (Caixa)</a:t>
            </a:r>
            <a:endParaRPr/>
          </a:p>
        </p:txBody>
      </p:sp>
      <p:sp>
        <p:nvSpPr>
          <p:cNvPr id="328" name="Google Shape;328;p26"/>
          <p:cNvSpPr txBox="1"/>
          <p:nvPr/>
        </p:nvSpPr>
        <p:spPr>
          <a:xfrm>
            <a:off x="8423374" y="3581400"/>
            <a:ext cx="14763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(PME + PMR) - PMP</a:t>
            </a:r>
            <a:endParaRPr/>
          </a:p>
        </p:txBody>
      </p:sp>
      <p:sp>
        <p:nvSpPr>
          <p:cNvPr id="329" name="Google Shape;329;p26"/>
          <p:cNvSpPr txBox="1"/>
          <p:nvPr/>
        </p:nvSpPr>
        <p:spPr>
          <a:xfrm>
            <a:off x="8423374" y="4198590"/>
            <a:ext cx="2901999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Os dias que a empresa precisa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financiar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 operação com caixa próprio. Quanto menor, melhor.</a:t>
            </a:r>
            <a:endParaRPr/>
          </a:p>
        </p:txBody>
      </p:sp>
      <p:pic>
        <p:nvPicPr>
          <p:cNvPr id="330" name="Google Shape;330;p2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09650" y="2219325"/>
            <a:ext cx="3905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26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787949" y="2219325"/>
            <a:ext cx="3048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26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566249" y="2219325"/>
            <a:ext cx="25717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26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4.3. O Ciclo Financeiro (Ciclo de Caixa)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8" name="Google Shape;338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27"/>
          <p:cNvSpPr txBox="1"/>
          <p:nvPr/>
        </p:nvSpPr>
        <p:spPr>
          <a:xfrm>
            <a:off x="2057400" y="2727126"/>
            <a:ext cx="8077200" cy="1279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Uma empresa lucrativa pode quebrar por falta de caixa.</a:t>
            </a:r>
            <a:endParaRPr/>
          </a:p>
        </p:txBody>
      </p:sp>
      <p:sp>
        <p:nvSpPr>
          <p:cNvPr id="340" name="Google Shape;340;p27"/>
          <p:cNvSpPr txBox="1"/>
          <p:nvPr/>
        </p:nvSpPr>
        <p:spPr>
          <a:xfrm>
            <a:off x="1676400" y="4292798"/>
            <a:ext cx="88392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Discussão Típica de Capital de Giro</a:t>
            </a:r>
            <a:endParaRPr/>
          </a:p>
        </p:txBody>
      </p:sp>
      <p:sp>
        <p:nvSpPr>
          <p:cNvPr id="341" name="Google Shape;341;p27"/>
          <p:cNvSpPr txBox="1"/>
          <p:nvPr/>
        </p:nvSpPr>
        <p:spPr>
          <a:xfrm>
            <a:off x="1676400" y="4835723"/>
            <a:ext cx="8839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F46E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Discussão (Case):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"Se o prazo de recebimento (PMR) aumenta em 20 dias, o que acontece?"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1" u="none" strike="noStrike" cap="non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Resposta: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NCG aumenta. O Ciclo Financeiro aumenta. A empresa precisa de mais caixa (CGL) para financiar o mesmo nível de venda. Se não tiver, "estrangula" o caixa, mesmo sendo lucrativa no papel.</a:t>
            </a:r>
            <a:endParaRPr/>
          </a:p>
        </p:txBody>
      </p:sp>
      <p:sp>
        <p:nvSpPr>
          <p:cNvPr id="342" name="Google Shape;342;p27"/>
          <p:cNvSpPr txBox="1"/>
          <p:nvPr/>
        </p:nvSpPr>
        <p:spPr>
          <a:xfrm>
            <a:off x="1581150" y="3012876"/>
            <a:ext cx="361950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0" i="0" u="none" strike="noStrike" cap="none">
                <a:solidFill>
                  <a:srgbClr val="C7D2FE"/>
                </a:solidFill>
                <a:latin typeface="Poppins"/>
                <a:ea typeface="Poppins"/>
                <a:cs typeface="Poppins"/>
                <a:sym typeface="Poppins"/>
              </a:rPr>
              <a:t>“</a:t>
            </a:r>
            <a:endParaRPr/>
          </a:p>
        </p:txBody>
      </p:sp>
      <p:sp>
        <p:nvSpPr>
          <p:cNvPr id="343" name="Google Shape;343;p27"/>
          <p:cNvSpPr txBox="1"/>
          <p:nvPr/>
        </p:nvSpPr>
        <p:spPr>
          <a:xfrm>
            <a:off x="10248900" y="3911798"/>
            <a:ext cx="361950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0" i="0" u="none" strike="noStrike" cap="none">
                <a:solidFill>
                  <a:srgbClr val="C7D2FE"/>
                </a:solidFill>
                <a:latin typeface="Poppins"/>
                <a:ea typeface="Poppins"/>
                <a:cs typeface="Poppins"/>
                <a:sym typeface="Poppins"/>
              </a:rPr>
              <a:t>”</a:t>
            </a:r>
            <a:endParaRPr/>
          </a:p>
        </p:txBody>
      </p:sp>
      <p:sp>
        <p:nvSpPr>
          <p:cNvPr id="344" name="Google Shape;344;p27"/>
          <p:cNvSpPr txBox="1"/>
          <p:nvPr/>
        </p:nvSpPr>
        <p:spPr>
          <a:xfrm>
            <a:off x="571500" y="571500"/>
            <a:ext cx="11601450" cy="123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4.3. O Paradoxo do "Estrangulamento" pelo Crescimento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9" name="Google Shape;349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28"/>
          <p:cNvSpPr/>
          <p:nvPr/>
        </p:nvSpPr>
        <p:spPr>
          <a:xfrm>
            <a:off x="5619750" y="2698402"/>
            <a:ext cx="952500" cy="47625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8"/>
          <p:cNvSpPr txBox="1"/>
          <p:nvPr/>
        </p:nvSpPr>
        <p:spPr>
          <a:xfrm>
            <a:off x="4385786" y="3031777"/>
            <a:ext cx="3420427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Módulo 4.4</a:t>
            </a:r>
            <a:endParaRPr/>
          </a:p>
        </p:txBody>
      </p:sp>
      <p:sp>
        <p:nvSpPr>
          <p:cNvPr id="353" name="Google Shape;353;p28"/>
          <p:cNvSpPr txBox="1"/>
          <p:nvPr/>
        </p:nvSpPr>
        <p:spPr>
          <a:xfrm>
            <a:off x="4014787" y="4079527"/>
            <a:ext cx="416242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Indicadores de Endividamento e Estrutura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57450"/>
            <a:ext cx="5286375" cy="3562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457450"/>
            <a:ext cx="5286375" cy="356235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29"/>
          <p:cNvSpPr txBox="1"/>
          <p:nvPr/>
        </p:nvSpPr>
        <p:spPr>
          <a:xfrm>
            <a:off x="962025" y="2847975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0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Endividamento Geral</a:t>
            </a:r>
            <a:endParaRPr/>
          </a:p>
        </p:txBody>
      </p:sp>
      <p:sp>
        <p:nvSpPr>
          <p:cNvPr id="362" name="Google Shape;362;p29"/>
          <p:cNvSpPr txBox="1"/>
          <p:nvPr/>
        </p:nvSpPr>
        <p:spPr>
          <a:xfrm>
            <a:off x="962025" y="3438525"/>
            <a:ext cx="4505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(Passivo Circ. + Exig. LP) / Ativo Total</a:t>
            </a:r>
            <a:endParaRPr/>
          </a:p>
        </p:txBody>
      </p:sp>
      <p:sp>
        <p:nvSpPr>
          <p:cNvPr id="363" name="Google Shape;363;p29"/>
          <p:cNvSpPr txBox="1"/>
          <p:nvPr/>
        </p:nvSpPr>
        <p:spPr>
          <a:xfrm>
            <a:off x="962025" y="3933825"/>
            <a:ext cx="45053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Também chamado de "Participação de Capital de Terceiros".</a:t>
            </a:r>
            <a:endParaRPr/>
          </a:p>
        </p:txBody>
      </p:sp>
      <p:sp>
        <p:nvSpPr>
          <p:cNvPr id="364" name="Google Shape;364;p29"/>
          <p:cNvSpPr txBox="1"/>
          <p:nvPr/>
        </p:nvSpPr>
        <p:spPr>
          <a:xfrm>
            <a:off x="962025" y="4733925"/>
            <a:ext cx="45053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Pergunta: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"Quantos % dos meus ativos são financiados por terceiros (bancos, fornecedores, etc.)?"</a:t>
            </a:r>
            <a:endParaRPr/>
          </a:p>
        </p:txBody>
      </p:sp>
      <p:sp>
        <p:nvSpPr>
          <p:cNvPr id="365" name="Google Shape;365;p29"/>
          <p:cNvSpPr txBox="1"/>
          <p:nvPr/>
        </p:nvSpPr>
        <p:spPr>
          <a:xfrm>
            <a:off x="6724650" y="2847975"/>
            <a:ext cx="4730591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8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Relação Dívida / PL (Alavancagem)</a:t>
            </a:r>
            <a:endParaRPr/>
          </a:p>
        </p:txBody>
      </p:sp>
      <p:sp>
        <p:nvSpPr>
          <p:cNvPr id="366" name="Google Shape;366;p29"/>
          <p:cNvSpPr txBox="1"/>
          <p:nvPr/>
        </p:nvSpPr>
        <p:spPr>
          <a:xfrm>
            <a:off x="6724650" y="3838575"/>
            <a:ext cx="4505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(Capital de Terceiros / Patrimônio Líquido)</a:t>
            </a:r>
            <a:endParaRPr/>
          </a:p>
        </p:txBody>
      </p:sp>
      <p:sp>
        <p:nvSpPr>
          <p:cNvPr id="367" name="Google Shape;367;p29"/>
          <p:cNvSpPr txBox="1"/>
          <p:nvPr/>
        </p:nvSpPr>
        <p:spPr>
          <a:xfrm>
            <a:off x="6724650" y="4333875"/>
            <a:ext cx="4505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Uma das métricas de alavancagem mais comuns.</a:t>
            </a:r>
            <a:endParaRPr/>
          </a:p>
        </p:txBody>
      </p:sp>
      <p:sp>
        <p:nvSpPr>
          <p:cNvPr id="368" name="Google Shape;368;p29"/>
          <p:cNvSpPr txBox="1"/>
          <p:nvPr/>
        </p:nvSpPr>
        <p:spPr>
          <a:xfrm>
            <a:off x="6724650" y="4829175"/>
            <a:ext cx="45053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Pergunta: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"Para cada R$ 1 dos sócios, quantos R$ de terceiros existem na estrutura?"</a:t>
            </a:r>
            <a:endParaRPr/>
          </a:p>
        </p:txBody>
      </p:sp>
      <p:pic>
        <p:nvPicPr>
          <p:cNvPr id="369" name="Google Shape;369;p2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2905125"/>
            <a:ext cx="2000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2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24650" y="2905125"/>
            <a:ext cx="3048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29"/>
          <p:cNvSpPr txBox="1"/>
          <p:nvPr/>
        </p:nvSpPr>
        <p:spPr>
          <a:xfrm>
            <a:off x="571500" y="571500"/>
            <a:ext cx="11601450" cy="123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4.4. Medindo o Nível de Endividamento (Alavancagem)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30"/>
          <p:cNvSpPr txBox="1"/>
          <p:nvPr/>
        </p:nvSpPr>
        <p:spPr>
          <a:xfrm>
            <a:off x="1809750" y="2291953"/>
            <a:ext cx="85725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Não basta olhar o </a:t>
            </a:r>
            <a:r>
              <a:rPr lang="en-US" sz="18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quanto</a:t>
            </a:r>
            <a:r>
              <a:rPr lang="en-US" sz="18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mas o </a:t>
            </a:r>
            <a:r>
              <a:rPr lang="en-US" sz="18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quê</a:t>
            </a:r>
            <a:r>
              <a:rPr lang="en-US" sz="18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 </a:t>
            </a:r>
            <a:r>
              <a:rPr lang="en-US" sz="18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quando</a:t>
            </a:r>
            <a:r>
              <a:rPr lang="en-US" sz="18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378" name="Google Shape;378;p30"/>
          <p:cNvSpPr txBox="1"/>
          <p:nvPr/>
        </p:nvSpPr>
        <p:spPr>
          <a:xfrm>
            <a:off x="2286000" y="2943373"/>
            <a:ext cx="8096250" cy="712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Curto vs. Longo Prazo: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 dívida está "empinada" no curto prazo? Há risco de refinanciamento iminente?</a:t>
            </a:r>
            <a:endParaRPr/>
          </a:p>
        </p:txBody>
      </p:sp>
      <p:sp>
        <p:nvSpPr>
          <p:cNvPr id="379" name="Google Shape;379;p30"/>
          <p:cNvSpPr txBox="1"/>
          <p:nvPr/>
        </p:nvSpPr>
        <p:spPr>
          <a:xfrm>
            <a:off x="2286000" y="3893790"/>
            <a:ext cx="8096250" cy="712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Onerosa vs. Não Onerosa: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 dívida tem custo explícito (Onerosa: Bancos, Debêntures) ou é operacional (Não Onerosa: Fornecedores, Impostos)?</a:t>
            </a:r>
            <a:endParaRPr/>
          </a:p>
        </p:txBody>
      </p:sp>
      <p:sp>
        <p:nvSpPr>
          <p:cNvPr id="380" name="Google Shape;380;p30"/>
          <p:cNvSpPr txBox="1"/>
          <p:nvPr/>
        </p:nvSpPr>
        <p:spPr>
          <a:xfrm>
            <a:off x="2286000" y="4844206"/>
            <a:ext cx="8096250" cy="712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Covenants (Cláusulas):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 empresa está em risco de violar cláusulas contratuais da dívida (Ex: Dívida/EBITDA &lt; 3.0x)?</a:t>
            </a:r>
            <a:endParaRPr/>
          </a:p>
        </p:txBody>
      </p:sp>
      <p:pic>
        <p:nvPicPr>
          <p:cNvPr id="381" name="Google Shape;381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2990998"/>
            <a:ext cx="2857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9750" y="3941415"/>
            <a:ext cx="2857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3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09750" y="4891831"/>
            <a:ext cx="28575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30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4.4. A Qualidade (Composição) da Dívida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" name="Google Shape;389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71625"/>
            <a:ext cx="11049000" cy="4714875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31"/>
          <p:cNvSpPr txBox="1"/>
          <p:nvPr/>
        </p:nvSpPr>
        <p:spPr>
          <a:xfrm>
            <a:off x="2257424" y="2274540"/>
            <a:ext cx="859345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Pergunta</a:t>
            </a:r>
            <a:r>
              <a:rPr lang="en-US" sz="18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empresa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*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consegue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*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pagar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dívida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com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sua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geração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operacional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?</a:t>
            </a:r>
            <a:endParaRPr dirty="0"/>
          </a:p>
        </p:txBody>
      </p:sp>
      <p:sp>
        <p:nvSpPr>
          <p:cNvPr id="392" name="Google Shape;392;p31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4.4. Indicadores de Cobertura (Visão Executiva)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32"/>
          <p:cNvSpPr/>
          <p:nvPr/>
        </p:nvSpPr>
        <p:spPr>
          <a:xfrm>
            <a:off x="5619750" y="2698402"/>
            <a:ext cx="952500" cy="47625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32"/>
          <p:cNvSpPr txBox="1"/>
          <p:nvPr/>
        </p:nvSpPr>
        <p:spPr>
          <a:xfrm>
            <a:off x="4385786" y="3031777"/>
            <a:ext cx="3420427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Módulo 4.5</a:t>
            </a:r>
            <a:endParaRPr/>
          </a:p>
        </p:txBody>
      </p:sp>
      <p:sp>
        <p:nvSpPr>
          <p:cNvPr id="401" name="Google Shape;401;p32"/>
          <p:cNvSpPr txBox="1"/>
          <p:nvPr/>
        </p:nvSpPr>
        <p:spPr>
          <a:xfrm>
            <a:off x="3671887" y="4079527"/>
            <a:ext cx="484822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Indicadores de Atividade (Eficiência Operacional)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6" name="Google Shape;406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99344"/>
            <a:ext cx="3492549" cy="405943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3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1899344"/>
            <a:ext cx="3492549" cy="405943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3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1899344"/>
            <a:ext cx="3492549" cy="405943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3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194619"/>
            <a:ext cx="714375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33"/>
          <p:cNvSpPr txBox="1"/>
          <p:nvPr/>
        </p:nvSpPr>
        <p:spPr>
          <a:xfrm>
            <a:off x="866775" y="3070919"/>
            <a:ext cx="2070258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Giro de Estoques</a:t>
            </a:r>
            <a:endParaRPr/>
          </a:p>
        </p:txBody>
      </p:sp>
      <p:sp>
        <p:nvSpPr>
          <p:cNvPr id="412" name="Google Shape;412;p33"/>
          <p:cNvSpPr txBox="1"/>
          <p:nvPr/>
        </p:nvSpPr>
        <p:spPr>
          <a:xfrm>
            <a:off x="866775" y="3718619"/>
            <a:ext cx="17335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(CMV / Estoque Médio)</a:t>
            </a:r>
            <a:endParaRPr/>
          </a:p>
        </p:txBody>
      </p:sp>
      <p:sp>
        <p:nvSpPr>
          <p:cNvPr id="413" name="Google Shape;413;p33"/>
          <p:cNvSpPr txBox="1"/>
          <p:nvPr/>
        </p:nvSpPr>
        <p:spPr>
          <a:xfrm>
            <a:off x="866775" y="4335809"/>
            <a:ext cx="2901999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"Quantas vezes o estoque 'girou' (foi vendido e reposto) no ano?"</a:t>
            </a:r>
            <a:endParaRPr/>
          </a:p>
        </p:txBody>
      </p:sp>
      <p:pic>
        <p:nvPicPr>
          <p:cNvPr id="414" name="Google Shape;414;p3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5074" y="2194619"/>
            <a:ext cx="542925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33"/>
          <p:cNvSpPr txBox="1"/>
          <p:nvPr/>
        </p:nvSpPr>
        <p:spPr>
          <a:xfrm>
            <a:off x="4645074" y="3070919"/>
            <a:ext cx="3047099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Giro de Contas a Receber</a:t>
            </a:r>
            <a:endParaRPr/>
          </a:p>
        </p:txBody>
      </p:sp>
      <p:sp>
        <p:nvSpPr>
          <p:cNvPr id="416" name="Google Shape;416;p33"/>
          <p:cNvSpPr txBox="1"/>
          <p:nvPr/>
        </p:nvSpPr>
        <p:spPr>
          <a:xfrm>
            <a:off x="4645074" y="4051994"/>
            <a:ext cx="2901999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(Receita Líquida / Contas a Receber Médio)</a:t>
            </a:r>
            <a:endParaRPr/>
          </a:p>
        </p:txBody>
      </p:sp>
      <p:sp>
        <p:nvSpPr>
          <p:cNvPr id="417" name="Google Shape;417;p33"/>
          <p:cNvSpPr txBox="1"/>
          <p:nvPr/>
        </p:nvSpPr>
        <p:spPr>
          <a:xfrm>
            <a:off x="4645074" y="4943475"/>
            <a:ext cx="2901999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"Quantas vezes o 'contas a receber' girou no ano?"</a:t>
            </a:r>
            <a:endParaRPr/>
          </a:p>
        </p:txBody>
      </p:sp>
      <p:pic>
        <p:nvPicPr>
          <p:cNvPr id="418" name="Google Shape;418;p3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3374" y="2194619"/>
            <a:ext cx="62865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33"/>
          <p:cNvSpPr txBox="1"/>
          <p:nvPr/>
        </p:nvSpPr>
        <p:spPr>
          <a:xfrm>
            <a:off x="8423374" y="3070919"/>
            <a:ext cx="2310288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Giro do Ativo Total</a:t>
            </a:r>
            <a:endParaRPr/>
          </a:p>
        </p:txBody>
      </p:sp>
      <p:sp>
        <p:nvSpPr>
          <p:cNvPr id="420" name="Google Shape;420;p33"/>
          <p:cNvSpPr txBox="1"/>
          <p:nvPr/>
        </p:nvSpPr>
        <p:spPr>
          <a:xfrm>
            <a:off x="8423374" y="3718619"/>
            <a:ext cx="26955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(Receita Líquida / Ativo Total Médio)</a:t>
            </a:r>
            <a:endParaRPr/>
          </a:p>
        </p:txBody>
      </p:sp>
      <p:sp>
        <p:nvSpPr>
          <p:cNvPr id="421" name="Google Shape;421;p33"/>
          <p:cNvSpPr txBox="1"/>
          <p:nvPr/>
        </p:nvSpPr>
        <p:spPr>
          <a:xfrm>
            <a:off x="8423374" y="4335809"/>
            <a:ext cx="2901999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"Para cada R$ 1 de Ativo, eu gero R$ X de Receita."</a:t>
            </a:r>
            <a:endParaRPr/>
          </a:p>
        </p:txBody>
      </p:sp>
      <p:pic>
        <p:nvPicPr>
          <p:cNvPr id="422" name="Google Shape;422;p3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09650" y="2356544"/>
            <a:ext cx="4286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33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787949" y="2356544"/>
            <a:ext cx="25717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33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566249" y="2356544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33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4.5. "Girar" os Ativos (Eficiência)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" name="Google Shape;430;p3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3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95512"/>
            <a:ext cx="5286375" cy="346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3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195512"/>
            <a:ext cx="5286375" cy="3467100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34"/>
          <p:cNvSpPr txBox="1"/>
          <p:nvPr/>
        </p:nvSpPr>
        <p:spPr>
          <a:xfrm>
            <a:off x="962025" y="2586037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8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Alto Giro, Baixa Margem</a:t>
            </a:r>
            <a:endParaRPr/>
          </a:p>
        </p:txBody>
      </p:sp>
      <p:sp>
        <p:nvSpPr>
          <p:cNvPr id="434" name="Google Shape;434;p34"/>
          <p:cNvSpPr txBox="1"/>
          <p:nvPr/>
        </p:nvSpPr>
        <p:spPr>
          <a:xfrm>
            <a:off x="962025" y="3176587"/>
            <a:ext cx="4505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Exemplo: Varejo de Alimentos (Supermercado)</a:t>
            </a:r>
            <a:endParaRPr/>
          </a:p>
        </p:txBody>
      </p:sp>
      <p:sp>
        <p:nvSpPr>
          <p:cNvPr id="435" name="Google Shape;435;p34"/>
          <p:cNvSpPr txBox="1"/>
          <p:nvPr/>
        </p:nvSpPr>
        <p:spPr>
          <a:xfrm>
            <a:off x="962025" y="3671887"/>
            <a:ext cx="45053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Ganha pouco por item (margem baixa), mas vende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muito rápido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(giro alto).</a:t>
            </a:r>
            <a:endParaRPr/>
          </a:p>
        </p:txBody>
      </p:sp>
      <p:sp>
        <p:nvSpPr>
          <p:cNvPr id="436" name="Google Shape;436;p34"/>
          <p:cNvSpPr txBox="1"/>
          <p:nvPr/>
        </p:nvSpPr>
        <p:spPr>
          <a:xfrm>
            <a:off x="962025" y="4471987"/>
            <a:ext cx="4505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 rentabilidade vem do volume e da velocidade.</a:t>
            </a:r>
            <a:endParaRPr/>
          </a:p>
        </p:txBody>
      </p:sp>
      <p:sp>
        <p:nvSpPr>
          <p:cNvPr id="437" name="Google Shape;437;p34"/>
          <p:cNvSpPr txBox="1"/>
          <p:nvPr/>
        </p:nvSpPr>
        <p:spPr>
          <a:xfrm>
            <a:off x="6724650" y="2586037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8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Baixo Giro, Alta Margem</a:t>
            </a:r>
            <a:endParaRPr/>
          </a:p>
        </p:txBody>
      </p:sp>
      <p:sp>
        <p:nvSpPr>
          <p:cNvPr id="438" name="Google Shape;438;p34"/>
          <p:cNvSpPr txBox="1"/>
          <p:nvPr/>
        </p:nvSpPr>
        <p:spPr>
          <a:xfrm>
            <a:off x="6724650" y="3176587"/>
            <a:ext cx="4505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Exemplo: Indústria de Bens de Capital (Máquinas)</a:t>
            </a:r>
            <a:endParaRPr/>
          </a:p>
        </p:txBody>
      </p:sp>
      <p:sp>
        <p:nvSpPr>
          <p:cNvPr id="439" name="Google Shape;439;p34"/>
          <p:cNvSpPr txBox="1"/>
          <p:nvPr/>
        </p:nvSpPr>
        <p:spPr>
          <a:xfrm>
            <a:off x="6724650" y="3671887"/>
            <a:ext cx="45053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Vende poucas unidades (giro baixo), mas ganha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muito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em cada uma (margem alta).</a:t>
            </a:r>
            <a:endParaRPr/>
          </a:p>
        </p:txBody>
      </p:sp>
      <p:sp>
        <p:nvSpPr>
          <p:cNvPr id="440" name="Google Shape;440;p34"/>
          <p:cNvSpPr txBox="1"/>
          <p:nvPr/>
        </p:nvSpPr>
        <p:spPr>
          <a:xfrm>
            <a:off x="6724650" y="4471987"/>
            <a:ext cx="45053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 rentabilidade vem da especialização e do valor agregado.</a:t>
            </a:r>
            <a:endParaRPr/>
          </a:p>
        </p:txBody>
      </p:sp>
      <p:pic>
        <p:nvPicPr>
          <p:cNvPr id="441" name="Google Shape;441;p3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2643187"/>
            <a:ext cx="304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3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24650" y="2643187"/>
            <a:ext cx="3048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34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4.5. A Relação Estratégica: Giro vs. Margem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8" name="Google Shape;448;p3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9" name="Google Shape;449;p3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2406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35"/>
          <p:cNvSpPr txBox="1"/>
          <p:nvPr/>
        </p:nvSpPr>
        <p:spPr>
          <a:xfrm>
            <a:off x="571500" y="2024062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Onde está a Alavanca?</a:t>
            </a:r>
            <a:endParaRPr/>
          </a:p>
        </p:txBody>
      </p:sp>
      <p:sp>
        <p:nvSpPr>
          <p:cNvPr id="451" name="Google Shape;451;p35"/>
          <p:cNvSpPr txBox="1"/>
          <p:nvPr/>
        </p:nvSpPr>
        <p:spPr>
          <a:xfrm>
            <a:off x="571500" y="2614612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 melhora de performance pode vir de duas frentes principais:</a:t>
            </a:r>
            <a:endParaRPr/>
          </a:p>
        </p:txBody>
      </p:sp>
      <p:sp>
        <p:nvSpPr>
          <p:cNvPr id="452" name="Google Shape;452;p35"/>
          <p:cNvSpPr txBox="1"/>
          <p:nvPr/>
        </p:nvSpPr>
        <p:spPr>
          <a:xfrm>
            <a:off x="571500" y="4662487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Um executivo deve saber onde está a principal alavanca de valor do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seu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negócio.</a:t>
            </a:r>
            <a:endParaRPr/>
          </a:p>
        </p:txBody>
      </p:sp>
      <p:sp>
        <p:nvSpPr>
          <p:cNvPr id="453" name="Google Shape;453;p35"/>
          <p:cNvSpPr txBox="1"/>
          <p:nvPr/>
        </p:nvSpPr>
        <p:spPr>
          <a:xfrm>
            <a:off x="704850" y="3109912"/>
            <a:ext cx="15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1.</a:t>
            </a:r>
            <a:endParaRPr/>
          </a:p>
        </p:txBody>
      </p:sp>
      <p:sp>
        <p:nvSpPr>
          <p:cNvPr id="454" name="Google Shape;454;p35"/>
          <p:cNvSpPr txBox="1"/>
          <p:nvPr/>
        </p:nvSpPr>
        <p:spPr>
          <a:xfrm>
            <a:off x="857250" y="3109912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Aumento de Margem: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Eficiência em custos, precificação, redução de despesas.</a:t>
            </a:r>
            <a:endParaRPr/>
          </a:p>
        </p:txBody>
      </p:sp>
      <p:sp>
        <p:nvSpPr>
          <p:cNvPr id="455" name="Google Shape;455;p35"/>
          <p:cNvSpPr txBox="1"/>
          <p:nvPr/>
        </p:nvSpPr>
        <p:spPr>
          <a:xfrm>
            <a:off x="704850" y="3862387"/>
            <a:ext cx="15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2.</a:t>
            </a:r>
            <a:endParaRPr/>
          </a:p>
        </p:txBody>
      </p:sp>
      <p:sp>
        <p:nvSpPr>
          <p:cNvPr id="456" name="Google Shape;456;p35"/>
          <p:cNvSpPr txBox="1"/>
          <p:nvPr/>
        </p:nvSpPr>
        <p:spPr>
          <a:xfrm>
            <a:off x="857250" y="3862387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Aumento de Giro: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Vender mais rápido, reduzir estoques, receber mais rápido do cliente.</a:t>
            </a:r>
            <a:endParaRPr/>
          </a:p>
        </p:txBody>
      </p:sp>
      <p:pic>
        <p:nvPicPr>
          <p:cNvPr id="457" name="Google Shape;457;p3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2033587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5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4.5. Eficiência Operacional é a Chave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3" name="Google Shape;463;p3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3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36"/>
          <p:cNvSpPr/>
          <p:nvPr/>
        </p:nvSpPr>
        <p:spPr>
          <a:xfrm>
            <a:off x="5619750" y="2698402"/>
            <a:ext cx="952500" cy="47625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36"/>
          <p:cNvSpPr txBox="1"/>
          <p:nvPr/>
        </p:nvSpPr>
        <p:spPr>
          <a:xfrm>
            <a:off x="4390786" y="3031777"/>
            <a:ext cx="3410426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Módulo 4.6</a:t>
            </a:r>
            <a:endParaRPr/>
          </a:p>
        </p:txBody>
      </p:sp>
      <p:sp>
        <p:nvSpPr>
          <p:cNvPr id="467" name="Google Shape;467;p36"/>
          <p:cNvSpPr txBox="1"/>
          <p:nvPr/>
        </p:nvSpPr>
        <p:spPr>
          <a:xfrm>
            <a:off x="3762375" y="4079527"/>
            <a:ext cx="46672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Indicadores de Rentabilidade e Modelo DuPont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2" name="Google Shape;472;p3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37"/>
          <p:cNvSpPr txBox="1"/>
          <p:nvPr/>
        </p:nvSpPr>
        <p:spPr>
          <a:xfrm>
            <a:off x="571500" y="3171825"/>
            <a:ext cx="5286375" cy="123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0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ROE</a:t>
            </a:r>
            <a:endParaRPr/>
          </a:p>
        </p:txBody>
      </p:sp>
      <p:sp>
        <p:nvSpPr>
          <p:cNvPr id="474" name="Google Shape;474;p37"/>
          <p:cNvSpPr txBox="1"/>
          <p:nvPr/>
        </p:nvSpPr>
        <p:spPr>
          <a:xfrm>
            <a:off x="571500" y="4410075"/>
            <a:ext cx="52863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Return on Equity</a:t>
            </a:r>
            <a:endParaRPr/>
          </a:p>
        </p:txBody>
      </p:sp>
      <p:sp>
        <p:nvSpPr>
          <p:cNvPr id="475" name="Google Shape;475;p37"/>
          <p:cNvSpPr txBox="1"/>
          <p:nvPr/>
        </p:nvSpPr>
        <p:spPr>
          <a:xfrm>
            <a:off x="6334125" y="2347912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ROA vs. ROE</a:t>
            </a:r>
            <a:endParaRPr/>
          </a:p>
        </p:txBody>
      </p:sp>
      <p:sp>
        <p:nvSpPr>
          <p:cNvPr id="476" name="Google Shape;476;p37"/>
          <p:cNvSpPr txBox="1"/>
          <p:nvPr/>
        </p:nvSpPr>
        <p:spPr>
          <a:xfrm>
            <a:off x="6334125" y="2995612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ROA (Return on Assets):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(Lucro Líquido / Ativo Total)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Mede a rentabilidade sobre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todos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os ativos da empresa.</a:t>
            </a:r>
            <a:endParaRPr/>
          </a:p>
        </p:txBody>
      </p:sp>
      <p:sp>
        <p:nvSpPr>
          <p:cNvPr id="477" name="Google Shape;477;p37"/>
          <p:cNvSpPr txBox="1"/>
          <p:nvPr/>
        </p:nvSpPr>
        <p:spPr>
          <a:xfrm>
            <a:off x="6334125" y="4100512"/>
            <a:ext cx="5286375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ROE (Return on Equity):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(Lucro Líquido / Patrimônio Líquido)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Mede a rentabilidade do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acionista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 É a medida final de geração de valor.</a:t>
            </a:r>
            <a:endParaRPr/>
          </a:p>
        </p:txBody>
      </p:sp>
      <p:sp>
        <p:nvSpPr>
          <p:cNvPr id="478" name="Google Shape;478;p37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4.6. Medindo a Rentabilidade (O Objetivo Final)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3" name="Google Shape;483;p3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4" name="Google Shape;484;p3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213693"/>
            <a:ext cx="1600200" cy="5430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5" name="Google Shape;485;p3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457450" y="1213693"/>
            <a:ext cx="1457325" cy="5430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p3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200525" y="1213693"/>
            <a:ext cx="2295525" cy="5430887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38"/>
          <p:cNvSpPr txBox="1"/>
          <p:nvPr/>
        </p:nvSpPr>
        <p:spPr>
          <a:xfrm>
            <a:off x="6496050" y="3774876"/>
            <a:ext cx="51244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ROE = Margem × Giro × Alavancagem</a:t>
            </a:r>
            <a:endParaRPr/>
          </a:p>
        </p:txBody>
      </p:sp>
      <p:pic>
        <p:nvPicPr>
          <p:cNvPr id="488" name="Google Shape;488;p3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1508968"/>
            <a:ext cx="676275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38"/>
          <p:cNvSpPr txBox="1"/>
          <p:nvPr/>
        </p:nvSpPr>
        <p:spPr>
          <a:xfrm>
            <a:off x="866775" y="2385268"/>
            <a:ext cx="1060132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Margem Líquida</a:t>
            </a:r>
            <a:endParaRPr/>
          </a:p>
        </p:txBody>
      </p:sp>
      <p:sp>
        <p:nvSpPr>
          <p:cNvPr id="490" name="Google Shape;490;p38"/>
          <p:cNvSpPr txBox="1"/>
          <p:nvPr/>
        </p:nvSpPr>
        <p:spPr>
          <a:xfrm>
            <a:off x="866775" y="3366343"/>
            <a:ext cx="100965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(Lucro Líquido / Receita)</a:t>
            </a:r>
            <a:endParaRPr/>
          </a:p>
        </p:txBody>
      </p:sp>
      <p:sp>
        <p:nvSpPr>
          <p:cNvPr id="491" name="Google Shape;491;p38"/>
          <p:cNvSpPr txBox="1"/>
          <p:nvPr/>
        </p:nvSpPr>
        <p:spPr>
          <a:xfrm>
            <a:off x="866775" y="4532114"/>
            <a:ext cx="1009650" cy="1645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Eficiência Operacional: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Capacidade de controlar custos e despesas.</a:t>
            </a:r>
            <a:endParaRPr/>
          </a:p>
        </p:txBody>
      </p:sp>
      <p:pic>
        <p:nvPicPr>
          <p:cNvPr id="492" name="Google Shape;492;p3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752725" y="1508968"/>
            <a:ext cx="62865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38"/>
          <p:cNvSpPr txBox="1"/>
          <p:nvPr/>
        </p:nvSpPr>
        <p:spPr>
          <a:xfrm>
            <a:off x="2752725" y="2385268"/>
            <a:ext cx="910113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Giro de Ativos</a:t>
            </a:r>
            <a:endParaRPr/>
          </a:p>
        </p:txBody>
      </p:sp>
      <p:sp>
        <p:nvSpPr>
          <p:cNvPr id="494" name="Google Shape;494;p38"/>
          <p:cNvSpPr txBox="1"/>
          <p:nvPr/>
        </p:nvSpPr>
        <p:spPr>
          <a:xfrm>
            <a:off x="2752725" y="3366343"/>
            <a:ext cx="8667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(Receita / Ativo Total)</a:t>
            </a:r>
            <a:endParaRPr/>
          </a:p>
        </p:txBody>
      </p:sp>
      <p:sp>
        <p:nvSpPr>
          <p:cNvPr id="495" name="Google Shape;495;p38"/>
          <p:cNvSpPr txBox="1"/>
          <p:nvPr/>
        </p:nvSpPr>
        <p:spPr>
          <a:xfrm>
            <a:off x="2752725" y="4257823"/>
            <a:ext cx="866775" cy="1920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Eficiência de Ativos: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Capacidade de gerar vendas com os ativos que possui.</a:t>
            </a:r>
            <a:endParaRPr/>
          </a:p>
        </p:txBody>
      </p:sp>
      <p:pic>
        <p:nvPicPr>
          <p:cNvPr id="496" name="Google Shape;496;p3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495800" y="1508968"/>
            <a:ext cx="714375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38"/>
          <p:cNvSpPr txBox="1"/>
          <p:nvPr/>
        </p:nvSpPr>
        <p:spPr>
          <a:xfrm>
            <a:off x="4495800" y="2385268"/>
            <a:ext cx="1790223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Alavancagem (M.P.L.)</a:t>
            </a:r>
            <a:endParaRPr/>
          </a:p>
        </p:txBody>
      </p:sp>
      <p:sp>
        <p:nvSpPr>
          <p:cNvPr id="498" name="Google Shape;498;p38"/>
          <p:cNvSpPr txBox="1"/>
          <p:nvPr/>
        </p:nvSpPr>
        <p:spPr>
          <a:xfrm>
            <a:off x="4495800" y="3366343"/>
            <a:ext cx="12287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(Ativo Total / PL)</a:t>
            </a:r>
            <a:endParaRPr/>
          </a:p>
        </p:txBody>
      </p:sp>
      <p:sp>
        <p:nvSpPr>
          <p:cNvPr id="499" name="Google Shape;499;p38"/>
          <p:cNvSpPr txBox="1"/>
          <p:nvPr/>
        </p:nvSpPr>
        <p:spPr>
          <a:xfrm>
            <a:off x="4495800" y="3983533"/>
            <a:ext cx="1704975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Alavancagem Financeira: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O "multiplicador" do uso de capital de terceiros.</a:t>
            </a:r>
            <a:endParaRPr/>
          </a:p>
        </p:txBody>
      </p:sp>
      <p:pic>
        <p:nvPicPr>
          <p:cNvPr id="500" name="Google Shape;500;p3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09650" y="1670893"/>
            <a:ext cx="3905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1" name="Google Shape;501;p38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895600" y="1670893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Google Shape;502;p38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638675" y="1670893"/>
            <a:ext cx="4286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38"/>
          <p:cNvSpPr txBox="1"/>
          <p:nvPr/>
        </p:nvSpPr>
        <p:spPr>
          <a:xfrm>
            <a:off x="571500" y="213568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4.6. Decompondo o ROE (O Modelo DuPont)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8" name="Google Shape;508;p3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39"/>
          <p:cNvSpPr txBox="1"/>
          <p:nvPr/>
        </p:nvSpPr>
        <p:spPr>
          <a:xfrm>
            <a:off x="571500" y="1593800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Qual empresa é mais rentável para o acionista?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 por quê?</a:t>
            </a:r>
            <a:endParaRPr/>
          </a:p>
        </p:txBody>
      </p:sp>
      <p:graphicFrame>
        <p:nvGraphicFramePr>
          <p:cNvPr id="510" name="Google Shape;510;p39"/>
          <p:cNvGraphicFramePr/>
          <p:nvPr/>
        </p:nvGraphicFramePr>
        <p:xfrm>
          <a:off x="571500" y="211946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{29BD0E18-C8B0-4DF6-A89D-1BA17AE06AE4}</a:tableStyleId>
              </a:tblPr>
              <a:tblGrid>
                <a:gridCol w="4426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9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02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52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Indicador (DuPont)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Varejista S.A.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Indústria S.A.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2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Margem Líquida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10%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2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Giro de Ativos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5.0x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0.8x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2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Alavancagem (At/PL)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3.0x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1.5x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2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ROE (Calculado)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4F46E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30%</a:t>
                      </a: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</a:t>
                      </a:r>
                      <a:br>
                        <a:rPr lang="en-US" sz="180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b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</a:b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         (2% × 5.0 × 3.0)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12%</a:t>
                      </a: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</a:t>
                      </a:r>
                      <a:br>
                        <a:rPr lang="en-US" sz="180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b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</a:b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         (10% × 0.8 × 1.5)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11" name="Google Shape;511;p39"/>
          <p:cNvSpPr txBox="1"/>
          <p:nvPr/>
        </p:nvSpPr>
        <p:spPr>
          <a:xfrm>
            <a:off x="571500" y="6073824"/>
            <a:ext cx="11049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1" u="none" strike="noStrike" cap="none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Discussão:</a:t>
            </a:r>
            <a:r>
              <a:rPr lang="en-US" sz="1350" b="0" i="1" u="none" strike="noStrike" cap="non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Varejista tem um ROE muito maior, mesmo com margem baixa. Por quê? </a:t>
            </a:r>
            <a:r>
              <a:rPr lang="en-US" sz="1350" b="1" i="1" u="none" strike="noStrike" cap="none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Altíssimo Giro</a:t>
            </a:r>
            <a:r>
              <a:rPr lang="en-US" sz="1350" b="0" i="1" u="none" strike="noStrike" cap="non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 </a:t>
            </a:r>
            <a:r>
              <a:rPr lang="en-US" sz="1350" b="1" i="1" u="none" strike="noStrike" cap="none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maior Alavancagem</a:t>
            </a:r>
            <a:r>
              <a:rPr lang="en-US" sz="1350" b="0" i="1" u="none" strike="noStrike" cap="non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A Indústria é conservadora e focada em margem. </a:t>
            </a:r>
            <a:endParaRPr/>
          </a:p>
        </p:txBody>
      </p:sp>
      <p:sp>
        <p:nvSpPr>
          <p:cNvPr id="512" name="Google Shape;512;p39"/>
          <p:cNvSpPr/>
          <p:nvPr/>
        </p:nvSpPr>
        <p:spPr>
          <a:xfrm>
            <a:off x="571500" y="2762398"/>
            <a:ext cx="44265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39"/>
          <p:cNvSpPr/>
          <p:nvPr/>
        </p:nvSpPr>
        <p:spPr>
          <a:xfrm>
            <a:off x="4998094" y="2762398"/>
            <a:ext cx="33199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39"/>
          <p:cNvSpPr/>
          <p:nvPr/>
        </p:nvSpPr>
        <p:spPr>
          <a:xfrm>
            <a:off x="8318003" y="2762398"/>
            <a:ext cx="33024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39"/>
          <p:cNvSpPr/>
          <p:nvPr/>
        </p:nvSpPr>
        <p:spPr>
          <a:xfrm>
            <a:off x="571500" y="3449984"/>
            <a:ext cx="44265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39"/>
          <p:cNvSpPr/>
          <p:nvPr/>
        </p:nvSpPr>
        <p:spPr>
          <a:xfrm>
            <a:off x="4998094" y="3449984"/>
            <a:ext cx="33199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39"/>
          <p:cNvSpPr/>
          <p:nvPr/>
        </p:nvSpPr>
        <p:spPr>
          <a:xfrm>
            <a:off x="8318003" y="3449984"/>
            <a:ext cx="33024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39"/>
          <p:cNvSpPr/>
          <p:nvPr/>
        </p:nvSpPr>
        <p:spPr>
          <a:xfrm>
            <a:off x="571500" y="4137570"/>
            <a:ext cx="44265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39"/>
          <p:cNvSpPr/>
          <p:nvPr/>
        </p:nvSpPr>
        <p:spPr>
          <a:xfrm>
            <a:off x="4998094" y="4137570"/>
            <a:ext cx="33199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39"/>
          <p:cNvSpPr/>
          <p:nvPr/>
        </p:nvSpPr>
        <p:spPr>
          <a:xfrm>
            <a:off x="8318003" y="4137570"/>
            <a:ext cx="33024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39"/>
          <p:cNvSpPr/>
          <p:nvPr/>
        </p:nvSpPr>
        <p:spPr>
          <a:xfrm>
            <a:off x="571500" y="4825156"/>
            <a:ext cx="44265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39"/>
          <p:cNvSpPr/>
          <p:nvPr/>
        </p:nvSpPr>
        <p:spPr>
          <a:xfrm>
            <a:off x="4998094" y="4825156"/>
            <a:ext cx="33199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39"/>
          <p:cNvSpPr/>
          <p:nvPr/>
        </p:nvSpPr>
        <p:spPr>
          <a:xfrm>
            <a:off x="8318003" y="4825156"/>
            <a:ext cx="33024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39"/>
          <p:cNvSpPr txBox="1"/>
          <p:nvPr/>
        </p:nvSpPr>
        <p:spPr>
          <a:xfrm>
            <a:off x="571500" y="384125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4.6. Exemplo: Comparando Empresas com DuPont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9" name="Google Shape;529;p4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0" name="Google Shape;530;p4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40"/>
          <p:cNvSpPr/>
          <p:nvPr/>
        </p:nvSpPr>
        <p:spPr>
          <a:xfrm>
            <a:off x="5619750" y="2698402"/>
            <a:ext cx="952500" cy="47625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40"/>
          <p:cNvSpPr txBox="1"/>
          <p:nvPr/>
        </p:nvSpPr>
        <p:spPr>
          <a:xfrm>
            <a:off x="4425791" y="3031777"/>
            <a:ext cx="3340417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Módulo 4.7</a:t>
            </a:r>
            <a:endParaRPr/>
          </a:p>
        </p:txBody>
      </p:sp>
      <p:sp>
        <p:nvSpPr>
          <p:cNvPr id="533" name="Google Shape;533;p40"/>
          <p:cNvSpPr txBox="1"/>
          <p:nvPr/>
        </p:nvSpPr>
        <p:spPr>
          <a:xfrm>
            <a:off x="4371975" y="4079527"/>
            <a:ext cx="34480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Análise de Geração de Caixa (DFC)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8" name="Google Shape;538;p4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p41"/>
          <p:cNvSpPr txBox="1"/>
          <p:nvPr/>
        </p:nvSpPr>
        <p:spPr>
          <a:xfrm>
            <a:off x="1809750" y="2244328"/>
            <a:ext cx="85725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"O caixa é rei. O lucro é (uma) opinião."</a:t>
            </a:r>
            <a:endParaRPr/>
          </a:p>
        </p:txBody>
      </p:sp>
      <p:sp>
        <p:nvSpPr>
          <p:cNvPr id="540" name="Google Shape;540;p41"/>
          <p:cNvSpPr txBox="1"/>
          <p:nvPr/>
        </p:nvSpPr>
        <p:spPr>
          <a:xfrm>
            <a:off x="2286000" y="2990998"/>
            <a:ext cx="8096250" cy="712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FCO vs. Lucro Líquido: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O lucro está "virando caixa" ou está "preso" em estoques e contas a receber? (Qualidade do Lucro)</a:t>
            </a:r>
            <a:endParaRPr/>
          </a:p>
        </p:txBody>
      </p:sp>
      <p:sp>
        <p:nvSpPr>
          <p:cNvPr id="541" name="Google Shape;541;p41"/>
          <p:cNvSpPr txBox="1"/>
          <p:nvPr/>
        </p:nvSpPr>
        <p:spPr>
          <a:xfrm>
            <a:off x="2286000" y="3941415"/>
            <a:ext cx="8096250" cy="712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FCI (CAPEX):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 empresa está reinvestindo (CAPEX) o suficiente para crescer e manter suas operações? De onde vem o dinheiro para isso?</a:t>
            </a:r>
            <a:endParaRPr/>
          </a:p>
        </p:txBody>
      </p:sp>
      <p:sp>
        <p:nvSpPr>
          <p:cNvPr id="542" name="Google Shape;542;p41"/>
          <p:cNvSpPr txBox="1"/>
          <p:nvPr/>
        </p:nvSpPr>
        <p:spPr>
          <a:xfrm>
            <a:off x="2286000" y="4891831"/>
            <a:ext cx="8096250" cy="712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FCF (Financiamento):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O crescimento é financiado por Dívida (aumenta FCF) ou Equity (aumenta FCF)? Como a empresa paga dividendos?</a:t>
            </a:r>
            <a:endParaRPr/>
          </a:p>
        </p:txBody>
      </p:sp>
      <p:pic>
        <p:nvPicPr>
          <p:cNvPr id="543" name="Google Shape;543;p4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3038623"/>
            <a:ext cx="2857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4" name="Google Shape;544;p4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9750" y="3989040"/>
            <a:ext cx="2857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5" name="Google Shape;545;p4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09750" y="4939456"/>
            <a:ext cx="28575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1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4.7. Conectando DFC, DRE e BP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1" name="Google Shape;551;p4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2" name="Google Shape;552;p4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38362"/>
            <a:ext cx="5286375" cy="358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3" name="Google Shape;553;p4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138362"/>
            <a:ext cx="5286375" cy="3581400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p42"/>
          <p:cNvSpPr txBox="1"/>
          <p:nvPr/>
        </p:nvSpPr>
        <p:spPr>
          <a:xfrm>
            <a:off x="962025" y="2528887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8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Payout vs. Plowback</a:t>
            </a:r>
            <a:endParaRPr/>
          </a:p>
        </p:txBody>
      </p:sp>
      <p:sp>
        <p:nvSpPr>
          <p:cNvPr id="555" name="Google Shape;555;p42"/>
          <p:cNvSpPr txBox="1"/>
          <p:nvPr/>
        </p:nvSpPr>
        <p:spPr>
          <a:xfrm>
            <a:off x="962025" y="3119437"/>
            <a:ext cx="45053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Payout: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(Dividendos / Lucro Líquido).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O quanto do lucro é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distribuído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aos acionistas.</a:t>
            </a:r>
            <a:endParaRPr/>
          </a:p>
        </p:txBody>
      </p:sp>
      <p:sp>
        <p:nvSpPr>
          <p:cNvPr id="556" name="Google Shape;556;p42"/>
          <p:cNvSpPr txBox="1"/>
          <p:nvPr/>
        </p:nvSpPr>
        <p:spPr>
          <a:xfrm>
            <a:off x="962025" y="3919537"/>
            <a:ext cx="45053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Plowback (Retenção):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(Lucro Retido / Lucro Líquido).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O quanto do lucro é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reinvestido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na empresa. (1 - Payout).</a:t>
            </a:r>
            <a:endParaRPr/>
          </a:p>
        </p:txBody>
      </p:sp>
      <p:sp>
        <p:nvSpPr>
          <p:cNvPr id="557" name="Google Shape;557;p42"/>
          <p:cNvSpPr txBox="1"/>
          <p:nvPr/>
        </p:nvSpPr>
        <p:spPr>
          <a:xfrm>
            <a:off x="6724650" y="2528887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381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Crescimento Sustentável</a:t>
            </a:r>
            <a:endParaRPr/>
          </a:p>
        </p:txBody>
      </p:sp>
      <p:sp>
        <p:nvSpPr>
          <p:cNvPr id="558" name="Google Shape;558;p42"/>
          <p:cNvSpPr txBox="1"/>
          <p:nvPr/>
        </p:nvSpPr>
        <p:spPr>
          <a:xfrm>
            <a:off x="6724650" y="3119437"/>
            <a:ext cx="45053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Empresas que distribuem 100% dos dividendos (alto payout) e investem pouco (baixo FCI), tendem a não crescer.</a:t>
            </a:r>
            <a:endParaRPr/>
          </a:p>
        </p:txBody>
      </p:sp>
      <p:sp>
        <p:nvSpPr>
          <p:cNvPr id="559" name="Google Shape;559;p42"/>
          <p:cNvSpPr txBox="1"/>
          <p:nvPr/>
        </p:nvSpPr>
        <p:spPr>
          <a:xfrm>
            <a:off x="6724650" y="4224337"/>
            <a:ext cx="45053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Empresas que se endividam (aumentam FCF) para financiar CAPEX (aumentam FCI) podem crescer rápido, mas aumentam o risco.</a:t>
            </a:r>
            <a:endParaRPr/>
          </a:p>
        </p:txBody>
      </p:sp>
      <p:pic>
        <p:nvPicPr>
          <p:cNvPr id="560" name="Google Shape;560;p4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2586037"/>
            <a:ext cx="304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1" name="Google Shape;561;p4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24650" y="2586037"/>
            <a:ext cx="2381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2" name="Google Shape;562;p42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4.7. Payout, Plowback e Crescimento Sustentável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7" name="Google Shape;567;p4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8" name="Google Shape;568;p4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5619750" y="2698402"/>
            <a:ext cx="952500" cy="47625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43"/>
          <p:cNvSpPr txBox="1"/>
          <p:nvPr/>
        </p:nvSpPr>
        <p:spPr>
          <a:xfrm>
            <a:off x="4390786" y="3031777"/>
            <a:ext cx="3410426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Módulo 4.8</a:t>
            </a:r>
            <a:endParaRPr/>
          </a:p>
        </p:txBody>
      </p:sp>
      <p:sp>
        <p:nvSpPr>
          <p:cNvPr id="571" name="Google Shape;571;p43"/>
          <p:cNvSpPr txBox="1"/>
          <p:nvPr/>
        </p:nvSpPr>
        <p:spPr>
          <a:xfrm>
            <a:off x="4781550" y="4079527"/>
            <a:ext cx="26289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Limitações e Boas Práticas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6" name="Google Shape;576;p4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7" name="Google Shape;577;p4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60972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p44"/>
          <p:cNvSpPr txBox="1"/>
          <p:nvPr/>
        </p:nvSpPr>
        <p:spPr>
          <a:xfrm>
            <a:off x="571500" y="1609725"/>
            <a:ext cx="5550693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Indicadores são </a:t>
            </a:r>
            <a:r>
              <a:rPr lang="en-US" sz="2100" b="1" i="1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sinais</a:t>
            </a:r>
            <a:r>
              <a:rPr lang="en-US" sz="2100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, não respostas.</a:t>
            </a:r>
            <a:endParaRPr/>
          </a:p>
        </p:txBody>
      </p:sp>
      <p:sp>
        <p:nvSpPr>
          <p:cNvPr id="579" name="Google Shape;579;p44"/>
          <p:cNvSpPr txBox="1"/>
          <p:nvPr/>
        </p:nvSpPr>
        <p:spPr>
          <a:xfrm>
            <a:off x="571500" y="2600325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Devemos ter cautela, pois os números têm limitações:</a:t>
            </a:r>
            <a:endParaRPr/>
          </a:p>
        </p:txBody>
      </p:sp>
      <p:sp>
        <p:nvSpPr>
          <p:cNvPr id="580" name="Google Shape;580;p44"/>
          <p:cNvSpPr txBox="1"/>
          <p:nvPr/>
        </p:nvSpPr>
        <p:spPr>
          <a:xfrm>
            <a:off x="742950" y="309562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581" name="Google Shape;581;p44"/>
          <p:cNvSpPr txBox="1"/>
          <p:nvPr/>
        </p:nvSpPr>
        <p:spPr>
          <a:xfrm>
            <a:off x="857250" y="3095625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Contabilidade baseada em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Custo Histórico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(não valor de mercado).</a:t>
            </a:r>
            <a:endParaRPr/>
          </a:p>
        </p:txBody>
      </p:sp>
      <p:sp>
        <p:nvSpPr>
          <p:cNvPr id="582" name="Google Shape;582;p44"/>
          <p:cNvSpPr txBox="1"/>
          <p:nvPr/>
        </p:nvSpPr>
        <p:spPr>
          <a:xfrm>
            <a:off x="742950" y="384810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583" name="Google Shape;583;p44"/>
          <p:cNvSpPr txBox="1"/>
          <p:nvPr/>
        </p:nvSpPr>
        <p:spPr>
          <a:xfrm>
            <a:off x="857250" y="3848100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Influência de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estimativas e julgamentos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(Ex: Provisões, Depreciação).</a:t>
            </a:r>
            <a:endParaRPr/>
          </a:p>
        </p:txBody>
      </p:sp>
      <p:sp>
        <p:nvSpPr>
          <p:cNvPr id="584" name="Google Shape;584;p44"/>
          <p:cNvSpPr txBox="1"/>
          <p:nvPr/>
        </p:nvSpPr>
        <p:spPr>
          <a:xfrm>
            <a:off x="742950" y="460057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585" name="Google Shape;585;p44"/>
          <p:cNvSpPr txBox="1"/>
          <p:nvPr/>
        </p:nvSpPr>
        <p:spPr>
          <a:xfrm>
            <a:off x="857250" y="4600575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Diferenças setoriais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(Não compare um banco com um varejo).</a:t>
            </a:r>
            <a:endParaRPr/>
          </a:p>
        </p:txBody>
      </p:sp>
      <p:sp>
        <p:nvSpPr>
          <p:cNvPr id="586" name="Google Shape;586;p44"/>
          <p:cNvSpPr txBox="1"/>
          <p:nvPr/>
        </p:nvSpPr>
        <p:spPr>
          <a:xfrm>
            <a:off x="742950" y="535305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587" name="Google Shape;587;p44"/>
          <p:cNvSpPr txBox="1"/>
          <p:nvPr/>
        </p:nvSpPr>
        <p:spPr>
          <a:xfrm>
            <a:off x="857250" y="5353050"/>
            <a:ext cx="5000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Efeitos de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inflação e câmbio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588" name="Google Shape;588;p44"/>
          <p:cNvSpPr txBox="1"/>
          <p:nvPr/>
        </p:nvSpPr>
        <p:spPr>
          <a:xfrm>
            <a:off x="742950" y="580072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589" name="Google Shape;589;p44"/>
          <p:cNvSpPr txBox="1"/>
          <p:nvPr/>
        </p:nvSpPr>
        <p:spPr>
          <a:xfrm>
            <a:off x="857250" y="5800725"/>
            <a:ext cx="5000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Empresas em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estágios diferentes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(Startups vs. Maduras).</a:t>
            </a:r>
            <a:endParaRPr/>
          </a:p>
        </p:txBody>
      </p:sp>
      <p:pic>
        <p:nvPicPr>
          <p:cNvPr id="590" name="Google Shape;590;p4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1619250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4.8. Limitações da Análise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6" name="Google Shape;596;p4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7" name="Google Shape;597;p45"/>
          <p:cNvSpPr txBox="1"/>
          <p:nvPr/>
        </p:nvSpPr>
        <p:spPr>
          <a:xfrm>
            <a:off x="2286000" y="2503437"/>
            <a:ext cx="8096250" cy="712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Compare!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Sempre olhe o histórico (</a:t>
            </a:r>
            <a:r>
              <a:rPr lang="en-US" sz="1650" b="1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tendência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) e os pares (</a:t>
            </a:r>
            <a:r>
              <a:rPr lang="en-US" sz="1650" b="1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benchmark setorial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). Um indicador sozinho não diz nada.</a:t>
            </a:r>
            <a:endParaRPr/>
          </a:p>
        </p:txBody>
      </p:sp>
      <p:sp>
        <p:nvSpPr>
          <p:cNvPr id="598" name="Google Shape;598;p45"/>
          <p:cNvSpPr txBox="1"/>
          <p:nvPr/>
        </p:nvSpPr>
        <p:spPr>
          <a:xfrm>
            <a:off x="2286000" y="3453854"/>
            <a:ext cx="8096250" cy="712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Olhe o Conjunto: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BP + DRE + DFC + Notas Explicativas. A história completa está na </a:t>
            </a:r>
            <a:r>
              <a:rPr lang="en-US" sz="1650" b="1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conexão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entre eles.</a:t>
            </a:r>
            <a:endParaRPr/>
          </a:p>
        </p:txBody>
      </p:sp>
      <p:sp>
        <p:nvSpPr>
          <p:cNvPr id="599" name="Google Shape;599;p45"/>
          <p:cNvSpPr txBox="1"/>
          <p:nvPr/>
        </p:nvSpPr>
        <p:spPr>
          <a:xfrm>
            <a:off x="2286000" y="4404270"/>
            <a:ext cx="8096250" cy="712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Combine o "Quanti" com o "Quali":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Use os números para </a:t>
            </a:r>
            <a:r>
              <a:rPr lang="en-US" sz="1650" b="1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fazer perguntas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 Entenda o </a:t>
            </a:r>
            <a:r>
              <a:rPr lang="en-US" sz="1650" b="1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negócio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 o </a:t>
            </a:r>
            <a:r>
              <a:rPr lang="en-US" sz="1650" b="1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ambiente econômico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por trás dos números.</a:t>
            </a:r>
            <a:endParaRPr/>
          </a:p>
        </p:txBody>
      </p:sp>
      <p:pic>
        <p:nvPicPr>
          <p:cNvPr id="600" name="Google Shape;600;p4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2551062"/>
            <a:ext cx="2857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1" name="Google Shape;601;p4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9750" y="3501479"/>
            <a:ext cx="2857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2" name="Google Shape;602;p4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09750" y="4451895"/>
            <a:ext cx="28575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45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4.8. Boas Práticas para o Executivo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8" name="Google Shape;608;p4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9" name="Google Shape;609;p4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6"/>
          <p:cNvSpPr/>
          <p:nvPr/>
        </p:nvSpPr>
        <p:spPr>
          <a:xfrm>
            <a:off x="5619750" y="2698402"/>
            <a:ext cx="952500" cy="47625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46"/>
          <p:cNvSpPr txBox="1"/>
          <p:nvPr/>
        </p:nvSpPr>
        <p:spPr>
          <a:xfrm>
            <a:off x="4420790" y="3031777"/>
            <a:ext cx="335041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Conclusão</a:t>
            </a:r>
            <a:endParaRPr/>
          </a:p>
        </p:txBody>
      </p:sp>
      <p:sp>
        <p:nvSpPr>
          <p:cNvPr id="612" name="Google Shape;612;p46"/>
          <p:cNvSpPr txBox="1"/>
          <p:nvPr/>
        </p:nvSpPr>
        <p:spPr>
          <a:xfrm>
            <a:off x="4286250" y="4079527"/>
            <a:ext cx="36195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Resumo da Aula 4 e Próximos Passos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7" name="Google Shape;617;p4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8" name="Google Shape;618;p47"/>
          <p:cNvSpPr txBox="1"/>
          <p:nvPr/>
        </p:nvSpPr>
        <p:spPr>
          <a:xfrm>
            <a:off x="295275" y="2445990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Perguntas?</a:t>
            </a:r>
            <a:endParaRPr/>
          </a:p>
        </p:txBody>
      </p:sp>
      <p:sp>
        <p:nvSpPr>
          <p:cNvPr id="619" name="Google Shape;619;p47"/>
          <p:cNvSpPr txBox="1"/>
          <p:nvPr/>
        </p:nvSpPr>
        <p:spPr>
          <a:xfrm>
            <a:off x="571500" y="3817590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Discussão Aberta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" name="Google Shape;624;p4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5" name="Google Shape;625;p4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07047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6" name="Google Shape;626;p4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591817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7" name="Google Shape;627;p4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47570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628" name="Google Shape;628;p48"/>
          <p:cNvSpPr/>
          <p:nvPr/>
        </p:nvSpPr>
        <p:spPr>
          <a:xfrm>
            <a:off x="571500" y="343286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48"/>
          <p:cNvSpPr/>
          <p:nvPr/>
        </p:nvSpPr>
        <p:spPr>
          <a:xfrm>
            <a:off x="571500" y="421764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30" name="Google Shape;630;p4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80704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631" name="Google Shape;631;p48"/>
          <p:cNvSpPr txBox="1"/>
          <p:nvPr/>
        </p:nvSpPr>
        <p:spPr>
          <a:xfrm>
            <a:off x="1666875" y="2800498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https://cdn.processon.io/admin/knowledge/article_content_img/6842c2f79ddabe5f0b39b9b5.png</a:t>
            </a:r>
            <a:endParaRPr/>
          </a:p>
        </p:txBody>
      </p:sp>
      <p:sp>
        <p:nvSpPr>
          <p:cNvPr id="632" name="Google Shape;632;p48"/>
          <p:cNvSpPr txBox="1"/>
          <p:nvPr/>
        </p:nvSpPr>
        <p:spPr>
          <a:xfrm>
            <a:off x="1666875" y="3046214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www.processon.io</a:t>
            </a:r>
            <a:endParaRPr/>
          </a:p>
        </p:txBody>
      </p:sp>
      <p:pic>
        <p:nvPicPr>
          <p:cNvPr id="633" name="Google Shape;633;p4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59181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634" name="Google Shape;634;p48"/>
          <p:cNvSpPr txBox="1"/>
          <p:nvPr/>
        </p:nvSpPr>
        <p:spPr>
          <a:xfrm>
            <a:off x="1666875" y="3585269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https://png.pngtree.com/png-vector/20241030/ourlarge/pngtree-mechanical-gears-intricate-parts-working-together-in-harmony-png-image_14200804.png</a:t>
            </a:r>
            <a:endParaRPr/>
          </a:p>
        </p:txBody>
      </p:sp>
      <p:sp>
        <p:nvSpPr>
          <p:cNvPr id="635" name="Google Shape;635;p48"/>
          <p:cNvSpPr txBox="1"/>
          <p:nvPr/>
        </p:nvSpPr>
        <p:spPr>
          <a:xfrm>
            <a:off x="1666875" y="3830984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pt.pngtree.com</a:t>
            </a:r>
            <a:endParaRPr/>
          </a:p>
        </p:txBody>
      </p:sp>
      <p:pic>
        <p:nvPicPr>
          <p:cNvPr id="636" name="Google Shape;636;p4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447570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48"/>
          <p:cNvSpPr txBox="1"/>
          <p:nvPr/>
        </p:nvSpPr>
        <p:spPr>
          <a:xfrm>
            <a:off x="1666875" y="4370040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https://img.freepik.com/fotos-premium/lupa-nos-documentos-contratuais-e-financeiros-estatisticas-e-acordos-analise-minuciosa-e-verificacao-para-avaliacao-dos-resultados-da-cooperacao-trabalho-de-auditor_361816-4974.jpg</a:t>
            </a:r>
            <a:endParaRPr/>
          </a:p>
        </p:txBody>
      </p:sp>
      <p:sp>
        <p:nvSpPr>
          <p:cNvPr id="638" name="Google Shape;638;p48"/>
          <p:cNvSpPr txBox="1"/>
          <p:nvPr/>
        </p:nvSpPr>
        <p:spPr>
          <a:xfrm>
            <a:off x="1666875" y="4813845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br.freepik.com</a:t>
            </a:r>
            <a:endParaRPr/>
          </a:p>
        </p:txBody>
      </p:sp>
      <p:sp>
        <p:nvSpPr>
          <p:cNvPr id="639" name="Google Shape;639;p48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2292</Words>
  <Application>Microsoft Office PowerPoint</Application>
  <PresentationFormat>Widescreen</PresentationFormat>
  <Paragraphs>271</Paragraphs>
  <Slides>36</Slides>
  <Notes>36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36</vt:i4>
      </vt:variant>
    </vt:vector>
  </HeadingPairs>
  <TitlesOfParts>
    <vt:vector size="42" baseType="lpstr">
      <vt:lpstr>Arial</vt:lpstr>
      <vt:lpstr>Poppins</vt:lpstr>
      <vt:lpstr>Lato</vt:lpstr>
      <vt:lpstr>Times New Roman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Jose Americo Pereira Antunes</cp:lastModifiedBy>
  <cp:revision>1</cp:revision>
  <dcterms:modified xsi:type="dcterms:W3CDTF">2025-11-06T10:56:54Z</dcterms:modified>
</cp:coreProperties>
</file>