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8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embeddedFontLs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Poppins" panose="000005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1EAAB1-6D80-436B-A3CE-1FD1B7264DFE}">
  <a:tblStyle styleId="{CF1EAAB1-6D80-436B-A3CE-1FD1B7264D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5298BBEC-8737-1AE2-3613-DE2BFC82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ECA314B6-216A-8166-DC6E-02B11B8F8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>
            <a:extLst>
              <a:ext uri="{FF2B5EF4-FFF2-40B4-BE49-F238E27FC236}">
                <a16:creationId xmlns:a16="http://schemas.microsoft.com/office/drawing/2014/main" id="{2C65A13D-11E9-CA3F-6BB9-135F6794A9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3267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tx2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accent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85" name="Google Shape;85;p13"/>
          <p:cNvSpPr txBox="1"/>
          <p:nvPr/>
        </p:nvSpPr>
        <p:spPr>
          <a:xfrm>
            <a:off x="295275" y="1885950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Análise de Demonstrações Financeiras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95750"/>
            <a:ext cx="11049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Aula 3: Elaboração das Demonstrações Contábeis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(Visão Prática e Executiva)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190750" y="2476500"/>
            <a:ext cx="8191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Visão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Integrada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5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 fato contábil às demonstrações financeiras</a:t>
            </a:r>
            <a:endParaRPr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2190750" y="2952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Apuração do Lucro: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papel do julgamento e estimativas.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190750" y="3429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Ajustes de Encerramento: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impacto na análise (Depreciação, Provisões).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3905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Mini-Case (Parte 1):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Construção prática de BP e DRE.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Mini-Case (Parte 2):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Construção prática da DFC.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190750" y="4857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Normalização: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"Limpando" os números para a análise.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241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003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4766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9528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4291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49053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 da Aula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B86359B8-5BC8-CDAE-2A65-9E7A30C1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>
            <a:extLst>
              <a:ext uri="{FF2B5EF4-FFF2-40B4-BE49-F238E27FC236}">
                <a16:creationId xmlns:a16="http://schemas.microsoft.com/office/drawing/2014/main" id="{7E5A908F-9DCE-E9C5-DEAF-DB8B86BF3C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>
            <a:extLst>
              <a:ext uri="{FF2B5EF4-FFF2-40B4-BE49-F238E27FC236}">
                <a16:creationId xmlns:a16="http://schemas.microsoft.com/office/drawing/2014/main" id="{3A9FB525-6CF6-46E3-CB2D-5179F7EA8F0F}"/>
              </a:ext>
            </a:extLst>
          </p:cNvPr>
          <p:cNvSpPr/>
          <p:nvPr/>
        </p:nvSpPr>
        <p:spPr>
          <a:xfrm>
            <a:off x="5619750" y="2452687"/>
            <a:ext cx="952500" cy="476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62B412FC-50C1-7A94-E1EF-7BE7A4634599}"/>
              </a:ext>
            </a:extLst>
          </p:cNvPr>
          <p:cNvSpPr txBox="1"/>
          <p:nvPr/>
        </p:nvSpPr>
        <p:spPr>
          <a:xfrm>
            <a:off x="295275" y="2786062"/>
            <a:ext cx="11601450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3.1 </a:t>
            </a:r>
            <a:r>
              <a:rPr lang="pt-BR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Visão integrada: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 fato contábil às demonstrações financeiras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107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3.1. A Visão Integrada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514475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Este módulo foca na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do sistema contábil, não na mecânica de débito/crédito.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426791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Vamos entender como um evento econômico se transforma em um número que impacta uma decisão executiva.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339107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objetivo é ver o fluxo de informação e como a estrutura de Ativos = Passivos + PL é a base de tudo.</a:t>
            </a:r>
            <a:endParaRPr/>
          </a:p>
        </p:txBody>
      </p:sp>
      <p:sp>
        <p:nvSpPr>
          <p:cNvPr id="2" name="Google Shape;596;p45">
            <a:extLst>
              <a:ext uri="{FF2B5EF4-FFF2-40B4-BE49-F238E27FC236}">
                <a16:creationId xmlns:a16="http://schemas.microsoft.com/office/drawing/2014/main" id="{8934C36A-25CE-7ADF-8CF6-E25B6CCD4BC1}"/>
              </a:ext>
            </a:extLst>
          </p:cNvPr>
          <p:cNvSpPr txBox="1"/>
          <p:nvPr/>
        </p:nvSpPr>
        <p:spPr>
          <a:xfrm>
            <a:off x="222885" y="6132988"/>
            <a:ext cx="4877435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https://unfocussed.com/cdn/shop/articles/Luminescent_Symphony.png?crop=center&amp;format=jpg&amp;height=1200&amp;v=1732049525&amp;width=2400</a:t>
            </a:r>
            <a:endParaRPr dirty="0"/>
          </a:p>
        </p:txBody>
      </p:sp>
      <p:sp>
        <p:nvSpPr>
          <p:cNvPr id="3" name="Google Shape;597;p45">
            <a:extLst>
              <a:ext uri="{FF2B5EF4-FFF2-40B4-BE49-F238E27FC236}">
                <a16:creationId xmlns:a16="http://schemas.microsoft.com/office/drawing/2014/main" id="{49ED89A6-E08A-64A8-42C7-D74343B00A29}"/>
              </a:ext>
            </a:extLst>
          </p:cNvPr>
          <p:cNvSpPr txBox="1"/>
          <p:nvPr/>
        </p:nvSpPr>
        <p:spPr>
          <a:xfrm>
            <a:off x="222884" y="5907422"/>
            <a:ext cx="77819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Fonte da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imagem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 unfocussed.com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4562"/>
            <a:ext cx="5286375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14562"/>
            <a:ext cx="5286375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62025" y="26050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Origem de Recursos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3243262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 onde vem o dinheiro?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24650" y="26050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Aplicação de Recursos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3243262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Para onde vai o dinheiro?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238250" y="369331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1343025" y="3624580"/>
            <a:ext cx="4419600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Capital </a:t>
            </a:r>
            <a:r>
              <a:rPr lang="en-US" sz="1425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Próprio</a:t>
            </a: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Dinheiro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dos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sócios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(Capital Social).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1238250" y="423624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343025" y="4167505"/>
            <a:ext cx="4349591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Capital de </a:t>
            </a:r>
            <a:r>
              <a:rPr lang="en-US" sz="1425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Terceiros</a:t>
            </a: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Dívidas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Bancos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Fornecedores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1238250" y="477916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343025" y="4710430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Geração</a:t>
            </a: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Própria</a:t>
            </a: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Receitas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da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operação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7000875" y="369331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105650" y="3614420"/>
            <a:ext cx="4124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Ativos</a:t>
            </a: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Bens e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Direitos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(Caixa, Estoque,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Máquinas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Contas a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Receber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7000875" y="432768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105650" y="4258945"/>
            <a:ext cx="4124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Custos e </a:t>
            </a:r>
            <a:r>
              <a:rPr lang="en-US" sz="1425" b="1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Despesas</a:t>
            </a:r>
            <a:r>
              <a:rPr lang="en-US" sz="1425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Gastos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gerar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receita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Salários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CMV).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"Motor" Contábil (A Lógica Essencial)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21780" y="4143375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1. Fato Econômico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4610100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Compra de máquina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2786795" y="2819400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2. Lançamento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2836515" y="3286125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Registro do fato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051810" y="4143375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3. Razão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101530" y="4610100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Histórico da conta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316825" y="2819400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4. Balancete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366545" y="3286125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Resumo e verificação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581841" y="4143375"/>
            <a:ext cx="208822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5. Demonstrações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631560" y="4610100"/>
            <a:ext cx="198879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BP, DRE, DFC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1470645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A3D"/>
          </a:solidFill>
          <a:ln w="38100" cap="flat" cmpd="sng">
            <a:solidFill>
              <a:srgbClr val="4A9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73566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A3D"/>
          </a:solidFill>
          <a:ln w="38100" cap="flat" cmpd="sng">
            <a:solidFill>
              <a:srgbClr val="4A9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000675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A3D"/>
          </a:solidFill>
          <a:ln w="38100" cap="flat" cmpd="sng">
            <a:solidFill>
              <a:srgbClr val="4A9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826569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A3D"/>
          </a:solidFill>
          <a:ln w="38100" cap="flat" cmpd="sng">
            <a:solidFill>
              <a:srgbClr val="4A9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10530706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B1A3D"/>
          </a:solidFill>
          <a:ln w="38100" cap="flat" cmpd="sng">
            <a:solidFill>
              <a:srgbClr val="4A90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Processo de Registro (Simplificado)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1776412" y="1809750"/>
            <a:ext cx="8077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decisão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classificação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'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lá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embaixo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' -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classificar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um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gasto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Custo (CPV)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Despesa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Operacional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distorce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diretamente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Margem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Bruta '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lá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cima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'.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1581150" y="2857500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0220325" y="5143500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Efeito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"Lá Em Cima"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499" y="1955005"/>
            <a:ext cx="528637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50%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vs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40%</a:t>
            </a:r>
            <a:endParaRPr sz="7200"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571498" y="5654158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Margem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Bruta</a:t>
            </a:r>
            <a:endParaRPr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233838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Impacto da Classificação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334125" y="2976562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Classificar R$1M de frete sobre vendas como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Despesa Operacional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(visão 1) vs.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Custo (CPV)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(visão 2) muda a margem bruta.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334125" y="3971925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analista que compara sua empresa (visão 1) com um concorrente (visão 2) pode tirar uma conclusão errada sobre a eficiência operacional.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Exemplo de Distorção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/>
          <p:nvPr/>
        </p:nvSpPr>
        <p:spPr>
          <a:xfrm>
            <a:off x="5619750" y="2452687"/>
            <a:ext cx="952500" cy="476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95275" y="2786062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3.2. Encerramento do Resultado e Apuração do Lucro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2190750" y="2381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Receitas: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Contas de Receita (Vendas) têm seus saldos transferidos para uma conta de "Apuração do Resultado" (ARE).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2190750" y="3143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Despesas/Custos: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Contas de Custo (CMV) e Despesa (Salários) também são transferidas para a "ARE".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2190750" y="3905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Nesta conta, calcula-se a diferença: (Total de Receitas) - (Total de Despesas/Custos) = Lucro ou Prejuízo.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2190750" y="4667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Patrimônio Líquido: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saldo final da ARE (o Lucro Líquido) é transferido para a conta "Lucros Acumulados" dentro do PL.</a:t>
            </a:r>
            <a:endParaRPr/>
          </a:p>
        </p:txBody>
      </p:sp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428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1908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528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714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o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Lucro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"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Nasce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"?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0293"/>
            <a:ext cx="5286375" cy="310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50293"/>
            <a:ext cx="5286375" cy="31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962025" y="2740818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 Fato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962025" y="3378993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São transações concretas, baseadas em eventos e documentos.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724650" y="2740818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A Estimativa (Julgamento)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724650" y="3378993"/>
            <a:ext cx="4505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São julgamentos da gestão que impactam o lucro.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1238250" y="41005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343025" y="4102893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Venda com nota fiscal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238250" y="43719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343025" y="4374356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Pagamento de salário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238250" y="464343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1343025" y="4645818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Compra de material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7000875" y="38290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7105650" y="3831431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Vida útil de uma máquina (Depreciação)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7000875" y="41005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105650" y="4102893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Percentual de clientes que não pagarão (PDD)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7000875" y="43719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105650" y="4374356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Chance de perder um processo (Provisão)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Lucro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é (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uma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Opinião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5619750" y="2452687"/>
            <a:ext cx="952500" cy="476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95275" y="2786062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3.3. Ajustes de Encerramento Relevantes para Análise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1760934" y="3300412"/>
            <a:ext cx="105013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 que é?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866775" y="3957637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Alocação sistemática do custo do ativo (Imobilizado/Intangível) ao longo da sua vida útil estimada pela gestão.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060870" y="3300412"/>
            <a:ext cx="207025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Impacto na DRE?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4676775" y="3957637"/>
            <a:ext cx="28384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É uma despesa/custo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sem efeito caixa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Reduz o lucro tributável e o lucro líquido.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8950880" y="3300412"/>
            <a:ext cx="191023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Impacto no BP?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8486775" y="3957637"/>
            <a:ext cx="28384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Reduz o valor do Ativo através da conta redutora "Depreciação Acumulada".</a:t>
            </a:r>
            <a:endParaRPr/>
          </a:p>
        </p:txBody>
      </p:sp>
      <p:pic>
        <p:nvPicPr>
          <p:cNvPr id="245" name="Google Shape;24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4550" y="26050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34550" y="2605087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Ajuste 1: Depreciação e Amortização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760934" y="3300412"/>
            <a:ext cx="105013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 que é?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866775" y="3957637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Reconhecimento de uma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perda provável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antes que ela ocorra. Ex: PDD (devedores duvidosos), causas judiciais.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5060870" y="3300412"/>
            <a:ext cx="207025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Impacto na DRE?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4676775" y="3957637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Aumenta a despesa, reduz o lucro *agora* (Princípio da Prudência). Afeta diretamente o risco percebido.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950880" y="3300412"/>
            <a:ext cx="191023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Impacto no BP?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486775" y="3957637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Reduz o "Contas a Receber" (no caso da PDD) ou aumenta o "Passivo" (no caso de contingências).</a:t>
            </a:r>
            <a:endParaRPr/>
          </a:p>
        </p:txBody>
      </p:sp>
      <p:pic>
        <p:nvPicPr>
          <p:cNvPr id="262" name="Google Shape;26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605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4550" y="26050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6050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Ajuste 2: Provisões (PDD e Contingências)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90762"/>
            <a:ext cx="3429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1760934" y="3300412"/>
            <a:ext cx="105013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 que é?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866775" y="3957637"/>
            <a:ext cx="28384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Quando o valor contábil de um ativo (ex: uma fábrica, uma marca) é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maior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que seu valor futuro de geração de caixa.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325903" y="3300412"/>
            <a:ext cx="154019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 que fazer?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4676775" y="3957637"/>
            <a:ext cx="28384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gestão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deve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registrar uma perda, ajustando o ativo ao seu valor recuperável (valor justo).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9310925" y="3300412"/>
            <a:ext cx="119014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Impacto?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8486775" y="3957637"/>
            <a:ext cx="28384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Gera uma Perda (geralmente não-recorrente) na DRE e reduz o Ativo permanentemente.</a:t>
            </a:r>
            <a:endParaRPr/>
          </a:p>
        </p:txBody>
      </p:sp>
      <p:pic>
        <p:nvPicPr>
          <p:cNvPr id="280" name="Google Shape;280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605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6050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8825" y="26050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Ajuste 3: Impairment (Redução ao Valor Recuperável)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6006"/>
            <a:ext cx="5286375" cy="3138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36006"/>
            <a:ext cx="5286375" cy="31384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962025" y="2726531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Regime de Competência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962025" y="3364706"/>
            <a:ext cx="45053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Receita/Despesa é registrada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quando ocorre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(fato gerador), não quando o caixa muda de mãos. Ex: Receitas e despesas antecipadas.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962025" y="4360068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Venda a prazo. A Receita é registrada hoje (DRE), mas o caixa só entra em 30 dias (DFC).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6724650" y="2726531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 Foco do Executivo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6724650" y="3364706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Ambos são cruciais, mas respondem perguntas diferentes: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7000875" y="40862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7105650" y="4088606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Lucro (Competência):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negócio é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rentável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7000875" y="43576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7105650" y="4360068"/>
            <a:ext cx="4124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Caixa (Fluxo):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negócio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sobrevive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 paga suas contas?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Ajuste 4: Competência vs. Caixa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2143125" y="1610042"/>
            <a:ext cx="8077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flexibilidade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escolha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vidas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úteis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depreciação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),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taxas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PDD 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cenários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impairment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dá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à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poder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'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suavizar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'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'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inflar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'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curto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prazo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dirty="0"/>
          </a:p>
        </p:txBody>
      </p:sp>
      <p:sp>
        <p:nvSpPr>
          <p:cNvPr id="307" name="Google Shape;307;p28"/>
          <p:cNvSpPr txBox="1"/>
          <p:nvPr/>
        </p:nvSpPr>
        <p:spPr>
          <a:xfrm>
            <a:off x="3937158" y="5247958"/>
            <a:ext cx="431768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analista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deve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estar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atento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essas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escolhas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08" name="Google Shape;308;p28"/>
          <p:cNvSpPr txBox="1"/>
          <p:nvPr/>
        </p:nvSpPr>
        <p:spPr>
          <a:xfrm>
            <a:off x="1581150" y="2728912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10220325" y="5014912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Gerenciamento de Resultados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/>
          <p:nvPr/>
        </p:nvSpPr>
        <p:spPr>
          <a:xfrm>
            <a:off x="5619750" y="2452687"/>
            <a:ext cx="952500" cy="476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 txBox="1"/>
          <p:nvPr/>
        </p:nvSpPr>
        <p:spPr>
          <a:xfrm>
            <a:off x="295275" y="2786062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3.4. Construção Sintética de BP e DRE (Mini-Case)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2190750" y="2952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Abertura: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Sócios investem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R$ 100.000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 caixa.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2190750" y="3429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Empréstimo: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Empresa pega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R$ 50.000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 banco.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2190750" y="3905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Compra de Estoque: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R$ 30.000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pagos à vista.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Compra de Máquina: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R$ 20.000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(paga R$ 5.000 à vista e R$ 15.000 a prazo).</a:t>
            </a:r>
            <a:endParaRPr/>
          </a:p>
        </p:txBody>
      </p:sp>
      <p:pic>
        <p:nvPicPr>
          <p:cNvPr id="327" name="Google Shape;32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00375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7662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5287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4291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Mini-Case "Executivo S.A." - Transações (1-4)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2190750" y="29527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Venda: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Vende 80% do estoque por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R$ 60.000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(metade à vista, metade a prazo).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2190750" y="3429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Custo: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Custo do estoque vendido (CMV) =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R$ 24.000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(80% de R$ 30.000).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2190750" y="39052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Salários: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Paga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R$ 10.000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salários (despesa do período).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2190750" y="43815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Depreciação: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R$ 2.000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depreciação da máquina no período.</a:t>
            </a:r>
            <a:endParaRPr/>
          </a:p>
        </p:txBody>
      </p:sp>
      <p:pic>
        <p:nvPicPr>
          <p:cNvPr id="341" name="Google Shape;34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00037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76625"/>
            <a:ext cx="152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5287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429125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Mini-Case "Executivo S.A." - Transações (5-8)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" name="Google Shape;351;p32"/>
          <p:cNvGraphicFramePr/>
          <p:nvPr>
            <p:extLst>
              <p:ext uri="{D42A27DB-BD31-4B8C-83A1-F6EECF244321}">
                <p14:modId xmlns:p14="http://schemas.microsoft.com/office/powerpoint/2010/main" val="480451283"/>
              </p:ext>
            </p:extLst>
          </p:nvPr>
        </p:nvGraphicFramePr>
        <p:xfrm>
          <a:off x="571500" y="1266825"/>
          <a:ext cx="11049000" cy="5276925"/>
        </p:xfrm>
        <a:graphic>
          <a:graphicData uri="http://schemas.openxmlformats.org/drawingml/2006/table">
            <a:tbl>
              <a:tblPr firstRow="1" bandRow="1">
                <a:noFill/>
                <a:tableStyleId>{CF1EAAB1-6D80-436B-A3CE-1FD1B7264DFE}</a:tableStyleId>
              </a:tblPr>
              <a:tblGrid>
                <a:gridCol w="776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Descrição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(R$)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Receita de Vendas (5)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+ 60.000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CMV (Custo da Mercadoria Vendida) (6)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- 24.000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Lucro Bruto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 36.000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Despesa com Salários (7)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- 10.000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Despesa com Depreciação (8)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- 2.000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Lucro Operacional (EBIT)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 24.000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(Sem Juros/IR para simplificar)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6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Lucro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Líquido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 24.000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52" name="Google Shape;352;p32"/>
          <p:cNvSpPr/>
          <p:nvPr/>
        </p:nvSpPr>
        <p:spPr>
          <a:xfrm>
            <a:off x="571500" y="1852612"/>
            <a:ext cx="776108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8332589" y="1852612"/>
            <a:ext cx="328791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571500" y="2424112"/>
            <a:ext cx="776108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8332589" y="2424112"/>
            <a:ext cx="328791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571500" y="3000375"/>
            <a:ext cx="776108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8332589" y="3000375"/>
            <a:ext cx="328791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571500" y="3605212"/>
            <a:ext cx="776108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571500" y="3009900"/>
            <a:ext cx="7761089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8332589" y="3605212"/>
            <a:ext cx="328791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8332589" y="3009900"/>
            <a:ext cx="3287910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571500" y="4176712"/>
            <a:ext cx="776108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8332589" y="4176712"/>
            <a:ext cx="328791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571500" y="4752975"/>
            <a:ext cx="776108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8332589" y="4752975"/>
            <a:ext cx="328791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571500" y="5357812"/>
            <a:ext cx="776108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571500" y="4762500"/>
            <a:ext cx="7761089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8332589" y="5357812"/>
            <a:ext cx="328791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/>
          <p:nvPr/>
        </p:nvSpPr>
        <p:spPr>
          <a:xfrm>
            <a:off x="8332589" y="4762500"/>
            <a:ext cx="3287910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571500" y="5934075"/>
            <a:ext cx="776108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8332589" y="5934075"/>
            <a:ext cx="328791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571500" y="5943600"/>
            <a:ext cx="7761089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8332589" y="5943600"/>
            <a:ext cx="3287910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2"/>
          <p:cNvSpPr txBox="1"/>
          <p:nvPr/>
        </p:nvSpPr>
        <p:spPr>
          <a:xfrm>
            <a:off x="571500" y="31432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Mini-Case: Construindo a DRE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0" name="Google Shape;380;p33"/>
          <p:cNvGraphicFramePr/>
          <p:nvPr>
            <p:extLst>
              <p:ext uri="{D42A27DB-BD31-4B8C-83A1-F6EECF244321}">
                <p14:modId xmlns:p14="http://schemas.microsoft.com/office/powerpoint/2010/main" val="3674573087"/>
              </p:ext>
            </p:extLst>
          </p:nvPr>
        </p:nvGraphicFramePr>
        <p:xfrm>
          <a:off x="571500" y="499745"/>
          <a:ext cx="11049000" cy="6343700"/>
        </p:xfrm>
        <a:graphic>
          <a:graphicData uri="http://schemas.openxmlformats.org/drawingml/2006/table">
            <a:tbl>
              <a:tblPr firstRow="1" bandRow="1">
                <a:noFill/>
                <a:tableStyleId>{CF1EAAB1-6D80-436B-A3CE-1FD1B7264DFE}</a:tableStyleId>
              </a:tblPr>
              <a:tblGrid>
                <a:gridCol w="444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Ativo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Cálculo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(R$)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Ativo Circulante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Caixa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100+50-30-5+30-10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135.000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Contas a Receber (5)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Estoque (3-6)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30 - 24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Ativo Circulante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171.000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Ativo Não Circulante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Máquinas (4)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(-) Depreciação Acum. (8)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(2.000)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Ativo Não Circ.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ATIVO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189.000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81" name="Google Shape;381;p33"/>
          <p:cNvSpPr/>
          <p:nvPr/>
        </p:nvSpPr>
        <p:spPr>
          <a:xfrm>
            <a:off x="571500" y="10855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5014019" y="10855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8805416" y="10855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571500" y="16570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5014019" y="16570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8805416" y="16570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571500" y="22285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5014019" y="22285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8805416" y="22285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571500" y="28000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5014019" y="28000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8805416" y="28000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571500" y="33715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5014019" y="33715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3"/>
          <p:cNvSpPr/>
          <p:nvPr/>
        </p:nvSpPr>
        <p:spPr>
          <a:xfrm>
            <a:off x="8805416" y="33715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3"/>
          <p:cNvSpPr/>
          <p:nvPr/>
        </p:nvSpPr>
        <p:spPr>
          <a:xfrm>
            <a:off x="571500" y="39430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3"/>
          <p:cNvSpPr/>
          <p:nvPr/>
        </p:nvSpPr>
        <p:spPr>
          <a:xfrm>
            <a:off x="5014019" y="39430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8805416" y="39430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571500" y="45145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3"/>
          <p:cNvSpPr/>
          <p:nvPr/>
        </p:nvSpPr>
        <p:spPr>
          <a:xfrm>
            <a:off x="5014019" y="45145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3"/>
          <p:cNvSpPr/>
          <p:nvPr/>
        </p:nvSpPr>
        <p:spPr>
          <a:xfrm>
            <a:off x="8805416" y="45145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571500" y="50860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5014019" y="50860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8805416" y="50860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571500" y="5657532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5014019" y="5657532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8805416" y="5657532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571500" y="6233795"/>
            <a:ext cx="44425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5014019" y="6233795"/>
            <a:ext cx="3791396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8805416" y="6233795"/>
            <a:ext cx="2815083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571500" y="6243320"/>
            <a:ext cx="4442519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5014019" y="6243320"/>
            <a:ext cx="3791396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8805416" y="6243320"/>
            <a:ext cx="2815083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 txBox="1"/>
          <p:nvPr/>
        </p:nvSpPr>
        <p:spPr>
          <a:xfrm>
            <a:off x="571500" y="3492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Mini-Case: Construindo o Balanço (Ativo)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0" name="Google Shape;420;p34"/>
          <p:cNvGraphicFramePr/>
          <p:nvPr>
            <p:extLst>
              <p:ext uri="{D42A27DB-BD31-4B8C-83A1-F6EECF244321}">
                <p14:modId xmlns:p14="http://schemas.microsoft.com/office/powerpoint/2010/main" val="244960013"/>
              </p:ext>
            </p:extLst>
          </p:nvPr>
        </p:nvGraphicFramePr>
        <p:xfrm>
          <a:off x="571500" y="744855"/>
          <a:ext cx="11049000" cy="5772250"/>
        </p:xfrm>
        <a:graphic>
          <a:graphicData uri="http://schemas.openxmlformats.org/drawingml/2006/table">
            <a:tbl>
              <a:tblPr firstRow="1" bandRow="1">
                <a:noFill/>
                <a:tableStyleId>{CF1EAAB1-6D80-436B-A3CE-1FD1B7264DFE}</a:tableStyleId>
              </a:tblPr>
              <a:tblGrid>
                <a:gridCol w="463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Passivo e PL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Cálculo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(R$)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Passivo</a:t>
                      </a: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Circulante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Fornecedores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Máquina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 (4)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Empréstimos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(2)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Passivo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Patrimônio Líquido (PL)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Capital Social (1)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Lucros Acumulados (DRE)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PL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124.000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PASSIVO + PL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65.000 + 124.000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189.000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1" name="Google Shape;421;p34"/>
          <p:cNvSpPr/>
          <p:nvPr/>
        </p:nvSpPr>
        <p:spPr>
          <a:xfrm>
            <a:off x="571500" y="1330642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5204221" y="1330642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8917781" y="1330642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571500" y="1902142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5204221" y="1902142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8917781" y="1902142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571500" y="2473642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5204221" y="2473642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8917781" y="2473642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571500" y="3045142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5204221" y="3045142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8917781" y="3045142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571500" y="3616642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5204221" y="3616642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8917781" y="3616642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571500" y="4188142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5204221" y="4188142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8917781" y="4188142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571500" y="4759642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5204221" y="4759642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8917781" y="4759642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571500" y="5331142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5204221" y="5331142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8917781" y="5331142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571500" y="5907405"/>
            <a:ext cx="4632721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5204221" y="5907405"/>
            <a:ext cx="371355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8917781" y="5907405"/>
            <a:ext cx="2702718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571500" y="5916930"/>
            <a:ext cx="4632721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5204221" y="5916930"/>
            <a:ext cx="3713559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8917781" y="5916930"/>
            <a:ext cx="2702718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 txBox="1"/>
          <p:nvPr/>
        </p:nvSpPr>
        <p:spPr>
          <a:xfrm>
            <a:off x="571500" y="6667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Mini-Case: Construindo o Balanço (Passivo e PL)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5"/>
          <p:cNvSpPr txBox="1"/>
          <p:nvPr/>
        </p:nvSpPr>
        <p:spPr>
          <a:xfrm>
            <a:off x="1971675" y="1563370"/>
            <a:ext cx="8077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Balanço *sempre*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fecha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ATIVO (R$ 189k) = PASSIVO (R$ 65k) + PL (R$ 124k).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Lucro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Líquido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(R$ 24k) da DRE é a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peça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que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alimenta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 PL (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Lucros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Acumulados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 dirty="0"/>
          </a:p>
        </p:txBody>
      </p:sp>
      <p:sp>
        <p:nvSpPr>
          <p:cNvPr id="458" name="Google Shape;458;p35"/>
          <p:cNvSpPr txBox="1"/>
          <p:nvPr/>
        </p:nvSpPr>
        <p:spPr>
          <a:xfrm>
            <a:off x="1581150" y="2590800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459" name="Google Shape;459;p35"/>
          <p:cNvSpPr txBox="1"/>
          <p:nvPr/>
        </p:nvSpPr>
        <p:spPr>
          <a:xfrm>
            <a:off x="10220325" y="5410200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460" name="Google Shape;460;p3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Grande Amarração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6"/>
          <p:cNvSpPr/>
          <p:nvPr/>
        </p:nvSpPr>
        <p:spPr>
          <a:xfrm>
            <a:off x="5619750" y="2452687"/>
            <a:ext cx="952500" cy="476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295275" y="2786062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3.5. Introdução à DFC (Fluxo de Caixa)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3" name="Google Shape;473;p37"/>
          <p:cNvGraphicFramePr/>
          <p:nvPr>
            <p:extLst>
              <p:ext uri="{D42A27DB-BD31-4B8C-83A1-F6EECF244321}">
                <p14:modId xmlns:p14="http://schemas.microsoft.com/office/powerpoint/2010/main" val="1243703196"/>
              </p:ext>
            </p:extLst>
          </p:nvPr>
        </p:nvGraphicFramePr>
        <p:xfrm>
          <a:off x="571500" y="1304925"/>
          <a:ext cx="11049000" cy="5200650"/>
        </p:xfrm>
        <a:graphic>
          <a:graphicData uri="http://schemas.openxmlformats.org/drawingml/2006/table">
            <a:tbl>
              <a:tblPr firstRow="1" bandRow="1">
                <a:noFill/>
                <a:tableStyleId>{CF1EAAB1-6D80-436B-A3CE-1FD1B7264DFE}</a:tableStyleId>
              </a:tblPr>
              <a:tblGrid>
                <a:gridCol w="859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Fluxo de Caixa Operacional (Método Indireto)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(R$)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Lucro Líquido</a:t>
                      </a: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(Início)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+ 24.000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1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Ajustes (sem caixa):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Depreciação (8)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+ 2.000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1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Variações no Capital de Giro (do BP):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Aumento Contas a Receber (Ativo subiu)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- 30.000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Aumento Estoque (Ativo subiu)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- 6.000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Aumento Fornecedores (Passivo subiu)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+ 15.000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Fluxo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 Caixa </a:t>
                      </a:r>
                      <a:r>
                        <a:rPr lang="en-US" sz="1500" b="1" i="0" u="none" strike="noStrike" cap="none" dirty="0" err="1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Operacional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(FCO)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 5.000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4" name="Google Shape;474;p37"/>
          <p:cNvSpPr/>
          <p:nvPr/>
        </p:nvSpPr>
        <p:spPr>
          <a:xfrm>
            <a:off x="571500" y="1890712"/>
            <a:ext cx="85954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9166919" y="1890712"/>
            <a:ext cx="245358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7"/>
          <p:cNvSpPr/>
          <p:nvPr/>
        </p:nvSpPr>
        <p:spPr>
          <a:xfrm>
            <a:off x="571500" y="2462212"/>
            <a:ext cx="85954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7"/>
          <p:cNvSpPr/>
          <p:nvPr/>
        </p:nvSpPr>
        <p:spPr>
          <a:xfrm>
            <a:off x="9166919" y="2462212"/>
            <a:ext cx="245358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7"/>
          <p:cNvSpPr/>
          <p:nvPr/>
        </p:nvSpPr>
        <p:spPr>
          <a:xfrm>
            <a:off x="571500" y="3033712"/>
            <a:ext cx="85954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9166919" y="3033712"/>
            <a:ext cx="245358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7"/>
          <p:cNvSpPr/>
          <p:nvPr/>
        </p:nvSpPr>
        <p:spPr>
          <a:xfrm>
            <a:off x="571500" y="3605212"/>
            <a:ext cx="85954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9166919" y="3605212"/>
            <a:ext cx="245358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571500" y="4176712"/>
            <a:ext cx="85954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7"/>
          <p:cNvSpPr/>
          <p:nvPr/>
        </p:nvSpPr>
        <p:spPr>
          <a:xfrm>
            <a:off x="9166919" y="4176712"/>
            <a:ext cx="245358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7"/>
          <p:cNvSpPr/>
          <p:nvPr/>
        </p:nvSpPr>
        <p:spPr>
          <a:xfrm>
            <a:off x="571500" y="4748212"/>
            <a:ext cx="85954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7"/>
          <p:cNvSpPr/>
          <p:nvPr/>
        </p:nvSpPr>
        <p:spPr>
          <a:xfrm>
            <a:off x="9166919" y="4748212"/>
            <a:ext cx="245358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7"/>
          <p:cNvSpPr/>
          <p:nvPr/>
        </p:nvSpPr>
        <p:spPr>
          <a:xfrm>
            <a:off x="571500" y="5319712"/>
            <a:ext cx="85954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7"/>
          <p:cNvSpPr/>
          <p:nvPr/>
        </p:nvSpPr>
        <p:spPr>
          <a:xfrm>
            <a:off x="9166919" y="5319712"/>
            <a:ext cx="245358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7"/>
          <p:cNvSpPr/>
          <p:nvPr/>
        </p:nvSpPr>
        <p:spPr>
          <a:xfrm>
            <a:off x="571500" y="5895975"/>
            <a:ext cx="8595419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7"/>
          <p:cNvSpPr/>
          <p:nvPr/>
        </p:nvSpPr>
        <p:spPr>
          <a:xfrm>
            <a:off x="9166919" y="5895975"/>
            <a:ext cx="2453580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7"/>
          <p:cNvSpPr/>
          <p:nvPr/>
        </p:nvSpPr>
        <p:spPr>
          <a:xfrm>
            <a:off x="571500" y="5905500"/>
            <a:ext cx="8595419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7"/>
          <p:cNvSpPr/>
          <p:nvPr/>
        </p:nvSpPr>
        <p:spPr>
          <a:xfrm>
            <a:off x="9166919" y="5905500"/>
            <a:ext cx="2453580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7"/>
          <p:cNvSpPr txBox="1"/>
          <p:nvPr/>
        </p:nvSpPr>
        <p:spPr>
          <a:xfrm>
            <a:off x="571500" y="35242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Mini-Case: DFC - Fluxo Operacional (FCO)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8" name="Google Shape;498;p38"/>
          <p:cNvGraphicFramePr/>
          <p:nvPr>
            <p:extLst>
              <p:ext uri="{D42A27DB-BD31-4B8C-83A1-F6EECF244321}">
                <p14:modId xmlns:p14="http://schemas.microsoft.com/office/powerpoint/2010/main" val="248783251"/>
              </p:ext>
            </p:extLst>
          </p:nvPr>
        </p:nvGraphicFramePr>
        <p:xfrm>
          <a:off x="571500" y="1857375"/>
          <a:ext cx="11049000" cy="4667200"/>
        </p:xfrm>
        <a:graphic>
          <a:graphicData uri="http://schemas.openxmlformats.org/drawingml/2006/table">
            <a:tbl>
              <a:tblPr firstRow="1" bandRow="1">
                <a:noFill/>
                <a:tableStyleId>{CF1EAAB1-6D80-436B-A3CE-1FD1B7264DFE}</a:tableStyleId>
              </a:tblPr>
              <a:tblGrid>
                <a:gridCol w="879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Fluxos de Investimento (FCI) e Financiamento (FCF)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(R$)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9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Fluxo de Investimento (FCI)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Compra de Máquina (4)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- 20.000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FCI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 (20.000)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Fluxo de Financiamento (FCF)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Capital Social (1)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+ 100.000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Empréstimo (2)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+ 50.000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FCF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= 150.000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99" name="Google Shape;499;p38"/>
          <p:cNvSpPr/>
          <p:nvPr/>
        </p:nvSpPr>
        <p:spPr>
          <a:xfrm>
            <a:off x="571500" y="2443162"/>
            <a:ext cx="8799314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8"/>
          <p:cNvSpPr/>
          <p:nvPr/>
        </p:nvSpPr>
        <p:spPr>
          <a:xfrm>
            <a:off x="9370814" y="2443162"/>
            <a:ext cx="2249685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8"/>
          <p:cNvSpPr/>
          <p:nvPr/>
        </p:nvSpPr>
        <p:spPr>
          <a:xfrm>
            <a:off x="571500" y="3014662"/>
            <a:ext cx="8799314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8"/>
          <p:cNvSpPr/>
          <p:nvPr/>
        </p:nvSpPr>
        <p:spPr>
          <a:xfrm>
            <a:off x="9370814" y="3014662"/>
            <a:ext cx="2249685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8"/>
          <p:cNvSpPr/>
          <p:nvPr/>
        </p:nvSpPr>
        <p:spPr>
          <a:xfrm>
            <a:off x="571500" y="3590925"/>
            <a:ext cx="8799314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8"/>
          <p:cNvSpPr/>
          <p:nvPr/>
        </p:nvSpPr>
        <p:spPr>
          <a:xfrm>
            <a:off x="9370814" y="3590925"/>
            <a:ext cx="2249685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8"/>
          <p:cNvSpPr/>
          <p:nvPr/>
        </p:nvSpPr>
        <p:spPr>
          <a:xfrm>
            <a:off x="571500" y="4195762"/>
            <a:ext cx="8799314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8"/>
          <p:cNvSpPr/>
          <p:nvPr/>
        </p:nvSpPr>
        <p:spPr>
          <a:xfrm>
            <a:off x="571500" y="3600450"/>
            <a:ext cx="8799314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8"/>
          <p:cNvSpPr/>
          <p:nvPr/>
        </p:nvSpPr>
        <p:spPr>
          <a:xfrm>
            <a:off x="9370814" y="4195762"/>
            <a:ext cx="2249685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8"/>
          <p:cNvSpPr/>
          <p:nvPr/>
        </p:nvSpPr>
        <p:spPr>
          <a:xfrm>
            <a:off x="9370814" y="3600450"/>
            <a:ext cx="2249685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8"/>
          <p:cNvSpPr/>
          <p:nvPr/>
        </p:nvSpPr>
        <p:spPr>
          <a:xfrm>
            <a:off x="571500" y="4767262"/>
            <a:ext cx="8799314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8"/>
          <p:cNvSpPr/>
          <p:nvPr/>
        </p:nvSpPr>
        <p:spPr>
          <a:xfrm>
            <a:off x="9370814" y="4767262"/>
            <a:ext cx="2249685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8"/>
          <p:cNvSpPr/>
          <p:nvPr/>
        </p:nvSpPr>
        <p:spPr>
          <a:xfrm>
            <a:off x="571500" y="5338762"/>
            <a:ext cx="8799314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8"/>
          <p:cNvSpPr/>
          <p:nvPr/>
        </p:nvSpPr>
        <p:spPr>
          <a:xfrm>
            <a:off x="9370814" y="5338762"/>
            <a:ext cx="2249685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8"/>
          <p:cNvSpPr/>
          <p:nvPr/>
        </p:nvSpPr>
        <p:spPr>
          <a:xfrm>
            <a:off x="571500" y="5915025"/>
            <a:ext cx="8799314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9370814" y="5915025"/>
            <a:ext cx="2249685" cy="95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8"/>
          <p:cNvSpPr/>
          <p:nvPr/>
        </p:nvSpPr>
        <p:spPr>
          <a:xfrm>
            <a:off x="571500" y="5924550"/>
            <a:ext cx="8799314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9370814" y="5924550"/>
            <a:ext cx="2249685" cy="1905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8"/>
          <p:cNvSpPr txBox="1"/>
          <p:nvPr/>
        </p:nvSpPr>
        <p:spPr>
          <a:xfrm>
            <a:off x="571500" y="33337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Mini-Case: DFC - Fluxos de Investimento e Financiamento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 txBox="1"/>
          <p:nvPr/>
        </p:nvSpPr>
        <p:spPr>
          <a:xfrm>
            <a:off x="571500" y="2319337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+135k</a:t>
            </a:r>
            <a:endParaRPr/>
          </a:p>
        </p:txBody>
      </p:sp>
      <p:sp>
        <p:nvSpPr>
          <p:cNvPr id="524" name="Google Shape;524;p39"/>
          <p:cNvSpPr txBox="1"/>
          <p:nvPr/>
        </p:nvSpPr>
        <p:spPr>
          <a:xfrm>
            <a:off x="571500" y="4276407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Variação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Total do Caixa</a:t>
            </a:r>
            <a:endParaRPr dirty="0"/>
          </a:p>
        </p:txBody>
      </p:sp>
      <p:sp>
        <p:nvSpPr>
          <p:cNvPr id="525" name="Google Shape;525;p39"/>
          <p:cNvSpPr txBox="1"/>
          <p:nvPr/>
        </p:nvSpPr>
        <p:spPr>
          <a:xfrm>
            <a:off x="6334125" y="23193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Verificação Final</a:t>
            </a:r>
            <a:endParaRPr/>
          </a:p>
        </p:txBody>
      </p:sp>
      <p:sp>
        <p:nvSpPr>
          <p:cNvPr id="526" name="Google Shape;526;p39"/>
          <p:cNvSpPr txBox="1"/>
          <p:nvPr/>
        </p:nvSpPr>
        <p:spPr>
          <a:xfrm>
            <a:off x="6334125" y="2957512"/>
            <a:ext cx="5286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FCO: + R$ 5.000</a:t>
            </a:r>
            <a:endParaRPr/>
          </a:p>
        </p:txBody>
      </p:sp>
      <p:sp>
        <p:nvSpPr>
          <p:cNvPr id="527" name="Google Shape;527;p39"/>
          <p:cNvSpPr txBox="1"/>
          <p:nvPr/>
        </p:nvSpPr>
        <p:spPr>
          <a:xfrm>
            <a:off x="6334125" y="3409950"/>
            <a:ext cx="5286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FCI: - R$ 20.000</a:t>
            </a:r>
            <a:endParaRPr/>
          </a:p>
        </p:txBody>
      </p:sp>
      <p:sp>
        <p:nvSpPr>
          <p:cNvPr id="528" name="Google Shape;528;p39"/>
          <p:cNvSpPr txBox="1"/>
          <p:nvPr/>
        </p:nvSpPr>
        <p:spPr>
          <a:xfrm>
            <a:off x="6334125" y="3862387"/>
            <a:ext cx="5286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FCF: + R$ 150.000</a:t>
            </a:r>
            <a:endParaRPr/>
          </a:p>
        </p:txBody>
      </p:sp>
      <p:sp>
        <p:nvSpPr>
          <p:cNvPr id="529" name="Google Shape;529;p39"/>
          <p:cNvSpPr txBox="1"/>
          <p:nvPr/>
        </p:nvSpPr>
        <p:spPr>
          <a:xfrm>
            <a:off x="6334125" y="4314825"/>
            <a:ext cx="52863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Variação Total = + R$ 135.000</a:t>
            </a:r>
            <a:endParaRPr/>
          </a:p>
        </p:txBody>
      </p:sp>
      <p:sp>
        <p:nvSpPr>
          <p:cNvPr id="530" name="Google Shape;530;p39"/>
          <p:cNvSpPr txBox="1"/>
          <p:nvPr/>
        </p:nvSpPr>
        <p:spPr>
          <a:xfrm>
            <a:off x="6334125" y="4767262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Este valor é exatamente o saldo da conta "Caixa" no Balanço Patrimonial. As demonstrações se conectam perfeitamente.</a:t>
            </a:r>
            <a:endParaRPr/>
          </a:p>
        </p:txBody>
      </p:sp>
      <p:sp>
        <p:nvSpPr>
          <p:cNvPr id="531" name="Google Shape;531;p3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Fechamento do Caixa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0"/>
          <p:cNvSpPr txBox="1"/>
          <p:nvPr/>
        </p:nvSpPr>
        <p:spPr>
          <a:xfrm>
            <a:off x="1884680" y="1400810"/>
            <a:ext cx="8077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empresa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gerou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R$ 24k de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lucro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competência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), mas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apenas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R$ 5k de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caixa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operacional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Ela '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queimou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' R$ 20k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investimentos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se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financiou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com R$ 150k de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sócios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bancos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O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caixa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subiu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mas a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operação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ainda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não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dirty="0"/>
          </a:p>
        </p:txBody>
      </p:sp>
      <p:sp>
        <p:nvSpPr>
          <p:cNvPr id="538" name="Google Shape;538;p40"/>
          <p:cNvSpPr txBox="1"/>
          <p:nvPr/>
        </p:nvSpPr>
        <p:spPr>
          <a:xfrm>
            <a:off x="1581150" y="2590800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539" name="Google Shape;539;p40"/>
          <p:cNvSpPr txBox="1"/>
          <p:nvPr/>
        </p:nvSpPr>
        <p:spPr>
          <a:xfrm>
            <a:off x="10220325" y="5410200"/>
            <a:ext cx="3905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540" name="Google Shape;540;p4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Raciocínio Econômico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1"/>
          <p:cNvSpPr/>
          <p:nvPr/>
        </p:nvSpPr>
        <p:spPr>
          <a:xfrm>
            <a:off x="5619750" y="2452687"/>
            <a:ext cx="952500" cy="47625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1"/>
          <p:cNvSpPr txBox="1"/>
          <p:nvPr/>
        </p:nvSpPr>
        <p:spPr>
          <a:xfrm>
            <a:off x="295275" y="2786062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3.6. Normalizações e Ajustes para Fins de Análise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2190750" y="2762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Retirar Não-Recorrentes: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Ganhos ou perdas que não fazem parte da operação normal. (Ex: Venda de uma fábrica, ganho com processo judicial). Distorcem a análise de tendência.</a:t>
            </a:r>
            <a:endParaRPr/>
          </a:p>
        </p:txBody>
      </p:sp>
      <p:sp>
        <p:nvSpPr>
          <p:cNvPr id="554" name="Google Shape;554;p42"/>
          <p:cNvSpPr txBox="1"/>
          <p:nvPr/>
        </p:nvSpPr>
        <p:spPr>
          <a:xfrm>
            <a:off x="2190750" y="3524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Reclassificar Itens: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Mover itens para refletir a realidade econômica. (Ex: Dívida de Longo Prazo que vence este ano vira Passivo Circulante). Muda indicadores de liquidez.</a:t>
            </a:r>
            <a:endParaRPr/>
          </a:p>
        </p:txBody>
      </p:sp>
      <p:sp>
        <p:nvSpPr>
          <p:cNvPr id="555" name="Google Shape;555;p42"/>
          <p:cNvSpPr txBox="1"/>
          <p:nvPr/>
        </p:nvSpPr>
        <p:spPr>
          <a:xfrm>
            <a:off x="2190750" y="428625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Separar Operacional vs. Financeiro: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Garantir que o Lucro Operacional (EBIT) reflita *apenas* a operação, sem receitas/despesas financeiras.</a:t>
            </a:r>
            <a:endParaRPr/>
          </a:p>
        </p:txBody>
      </p:sp>
      <p:pic>
        <p:nvPicPr>
          <p:cNvPr id="556" name="Google Shape;556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809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571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333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"Limpando" os Números (Normalização)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9787"/>
            <a:ext cx="5286375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09787"/>
            <a:ext cx="5286375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3"/>
          <p:cNvSpPr txBox="1"/>
          <p:nvPr/>
        </p:nvSpPr>
        <p:spPr>
          <a:xfrm>
            <a:off x="962025" y="25003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 Ajuste (IFRS 16)</a:t>
            </a:r>
            <a:endParaRPr/>
          </a:p>
        </p:txBody>
      </p:sp>
      <p:sp>
        <p:nvSpPr>
          <p:cNvPr id="568" name="Google Shape;568;p43"/>
          <p:cNvSpPr txBox="1"/>
          <p:nvPr/>
        </p:nvSpPr>
        <p:spPr>
          <a:xfrm>
            <a:off x="962025" y="3138487"/>
            <a:ext cx="45053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Contratos de aluguel (ex: lojas, escritórios) que antes eram apenas "Despesa de Aluguel" agora são tratados de forma diferente:</a:t>
            </a:r>
            <a:endParaRPr/>
          </a:p>
        </p:txBody>
      </p:sp>
      <p:sp>
        <p:nvSpPr>
          <p:cNvPr id="569" name="Google Shape;569;p43"/>
          <p:cNvSpPr txBox="1"/>
          <p:nvPr/>
        </p:nvSpPr>
        <p:spPr>
          <a:xfrm>
            <a:off x="6724650" y="25003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90E2"/>
                </a:solidFill>
                <a:latin typeface="Poppins"/>
                <a:ea typeface="Poppins"/>
                <a:cs typeface="Poppins"/>
                <a:sym typeface="Poppins"/>
              </a:rPr>
              <a:t>O Impacto no EBITDA</a:t>
            </a:r>
            <a:endParaRPr/>
          </a:p>
        </p:txBody>
      </p:sp>
      <p:sp>
        <p:nvSpPr>
          <p:cNvPr id="570" name="Google Shape;570;p43"/>
          <p:cNvSpPr txBox="1"/>
          <p:nvPr/>
        </p:nvSpPr>
        <p:spPr>
          <a:xfrm>
            <a:off x="6724650" y="3138487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"Despesa de Aluguel" (que reduzia o EBITDA) "some". Em seu lugar, aparecem:</a:t>
            </a:r>
            <a:endParaRPr/>
          </a:p>
        </p:txBody>
      </p:sp>
      <p:sp>
        <p:nvSpPr>
          <p:cNvPr id="571" name="Google Shape;571;p43"/>
          <p:cNvSpPr txBox="1"/>
          <p:nvPr/>
        </p:nvSpPr>
        <p:spPr>
          <a:xfrm>
            <a:off x="6724650" y="4586287"/>
            <a:ext cx="45053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Efeito: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 Ativo aumenta, a Dívida aumenta e o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EBITDA aumenta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72" name="Google Shape;572;p43"/>
          <p:cNvSpPr txBox="1"/>
          <p:nvPr/>
        </p:nvSpPr>
        <p:spPr>
          <a:xfrm>
            <a:off x="1238250" y="413146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3" name="Google Shape;573;p43"/>
          <p:cNvSpPr txBox="1"/>
          <p:nvPr/>
        </p:nvSpPr>
        <p:spPr>
          <a:xfrm>
            <a:off x="1343025" y="4133850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Registra-se um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Ativo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(Direito de Uso).</a:t>
            </a:r>
            <a:endParaRPr/>
          </a:p>
        </p:txBody>
      </p:sp>
      <p:sp>
        <p:nvSpPr>
          <p:cNvPr id="574" name="Google Shape;574;p43"/>
          <p:cNvSpPr txBox="1"/>
          <p:nvPr/>
        </p:nvSpPr>
        <p:spPr>
          <a:xfrm>
            <a:off x="1238250" y="440293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5" name="Google Shape;575;p43"/>
          <p:cNvSpPr txBox="1"/>
          <p:nvPr/>
        </p:nvSpPr>
        <p:spPr>
          <a:xfrm>
            <a:off x="1343025" y="4405312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Registra-se um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Passivo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(Obrigação de Leasing).</a:t>
            </a:r>
            <a:endParaRPr/>
          </a:p>
        </p:txBody>
      </p:sp>
      <p:sp>
        <p:nvSpPr>
          <p:cNvPr id="576" name="Google Shape;576;p43"/>
          <p:cNvSpPr txBox="1"/>
          <p:nvPr/>
        </p:nvSpPr>
        <p:spPr>
          <a:xfrm>
            <a:off x="7000875" y="386000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7" name="Google Shape;577;p43"/>
          <p:cNvSpPr txBox="1"/>
          <p:nvPr/>
        </p:nvSpPr>
        <p:spPr>
          <a:xfrm>
            <a:off x="7105650" y="3862387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Depreciação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(do Ativo)</a:t>
            </a:r>
            <a:endParaRPr/>
          </a:p>
        </p:txBody>
      </p:sp>
      <p:sp>
        <p:nvSpPr>
          <p:cNvPr id="578" name="Google Shape;578;p43"/>
          <p:cNvSpPr txBox="1"/>
          <p:nvPr/>
        </p:nvSpPr>
        <p:spPr>
          <a:xfrm>
            <a:off x="7000875" y="413146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579" name="Google Shape;579;p43"/>
          <p:cNvSpPr txBox="1"/>
          <p:nvPr/>
        </p:nvSpPr>
        <p:spPr>
          <a:xfrm>
            <a:off x="7105650" y="4133850"/>
            <a:ext cx="41243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Juros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(do Passivo)</a:t>
            </a:r>
            <a:endParaRPr/>
          </a:p>
        </p:txBody>
      </p:sp>
      <p:sp>
        <p:nvSpPr>
          <p:cNvPr id="580" name="Google Shape;580;p4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Ajuste Relevante: IFRS 16 (Arrendamentos)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4"/>
          <p:cNvSpPr txBox="1"/>
          <p:nvPr/>
        </p:nvSpPr>
        <p:spPr>
          <a:xfrm>
            <a:off x="419100" y="737037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Concluindo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  <a:endParaRPr dirty="0"/>
          </a:p>
        </p:txBody>
      </p:sp>
      <p:sp>
        <p:nvSpPr>
          <p:cNvPr id="587" name="Google Shape;587;p44"/>
          <p:cNvSpPr txBox="1"/>
          <p:nvPr/>
        </p:nvSpPr>
        <p:spPr>
          <a:xfrm>
            <a:off x="295275" y="1263254"/>
            <a:ext cx="1160145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qualidade de sua análise depende diretamente de sua capacidade de compreender a forma como os números foram elaborados e de identificar os ajustes necessários para assegurar sua consistência e integridade.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7350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57350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45"/>
          <p:cNvSpPr txBox="1"/>
          <p:nvPr/>
        </p:nvSpPr>
        <p:spPr>
          <a:xfrm>
            <a:off x="2752725" y="3674268"/>
            <a:ext cx="77819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https://unfocussed.com/cdn/shop/articles/Luminescent_Symphony.png?crop=center&amp;format=jpg&amp;height=1200&amp;v=1732049525&amp;width=2400</a:t>
            </a:r>
            <a:endParaRPr dirty="0"/>
          </a:p>
        </p:txBody>
      </p:sp>
      <p:sp>
        <p:nvSpPr>
          <p:cNvPr id="597" name="Google Shape;597;p45"/>
          <p:cNvSpPr txBox="1"/>
          <p:nvPr/>
        </p:nvSpPr>
        <p:spPr>
          <a:xfrm>
            <a:off x="2752725" y="3907631"/>
            <a:ext cx="77819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unfocussed.com</a:t>
            </a:r>
            <a:endParaRPr/>
          </a:p>
        </p:txBody>
      </p:sp>
      <p:sp>
        <p:nvSpPr>
          <p:cNvPr id="598" name="Google Shape;598;p4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2013</Words>
  <Application>Microsoft Office PowerPoint</Application>
  <PresentationFormat>Widescreen</PresentationFormat>
  <Paragraphs>263</Paragraphs>
  <Slides>34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9" baseType="lpstr">
      <vt:lpstr>Arial</vt:lpstr>
      <vt:lpstr>Poppins</vt:lpstr>
      <vt:lpstr>Lato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Americo Pereira Antunes</cp:lastModifiedBy>
  <cp:revision>6</cp:revision>
  <dcterms:modified xsi:type="dcterms:W3CDTF">2025-11-07T12:38:37Z</dcterms:modified>
</cp:coreProperties>
</file>