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6858000" cx="12192000"/>
  <p:notesSz cx="6858000" cy="9144000"/>
  <p:embeddedFontLst>
    <p:embeddedFont>
      <p:font typeface="Poppins"/>
      <p:regular r:id="rId47"/>
      <p:bold r:id="rId48"/>
      <p:italic r:id="rId49"/>
      <p:boldItalic r:id="rId50"/>
    </p:embeddedFont>
    <p:embeddedFont>
      <p:font typeface="Lato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5C3A9F-CC25-4BC1-AC52-C0A67B19229F}">
  <a:tblStyle styleId="{AE5C3A9F-CC25-4BC1-AC52-C0A67B19229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oppins-bold.fntdata"/><Relationship Id="rId47" Type="http://schemas.openxmlformats.org/officeDocument/2006/relationships/font" Target="fonts/Poppins-regular.fntdata"/><Relationship Id="rId49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ato-regular.fntdata"/><Relationship Id="rId50" Type="http://schemas.openxmlformats.org/officeDocument/2006/relationships/font" Target="fonts/Poppins-boldItalic.fntdata"/><Relationship Id="rId53" Type="http://schemas.openxmlformats.org/officeDocument/2006/relationships/font" Target="fonts/Lato-italic.fntdata"/><Relationship Id="rId52" Type="http://schemas.openxmlformats.org/officeDocument/2006/relationships/font" Target="fonts/Lat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La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22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3.png"/><Relationship Id="rId4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34.png"/><Relationship Id="rId5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9.png"/><Relationship Id="rId4" Type="http://schemas.openxmlformats.org/officeDocument/2006/relationships/image" Target="../media/image44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54.png"/><Relationship Id="rId8" Type="http://schemas.openxmlformats.org/officeDocument/2006/relationships/image" Target="../media/image6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2.png"/><Relationship Id="rId4" Type="http://schemas.openxmlformats.org/officeDocument/2006/relationships/image" Target="../media/image36.png"/><Relationship Id="rId5" Type="http://schemas.openxmlformats.org/officeDocument/2006/relationships/image" Target="../media/image46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7.png"/><Relationship Id="rId4" Type="http://schemas.openxmlformats.org/officeDocument/2006/relationships/image" Target="../media/image5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2.png"/><Relationship Id="rId4" Type="http://schemas.openxmlformats.org/officeDocument/2006/relationships/image" Target="../media/image6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0.png"/><Relationship Id="rId4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5.png"/><Relationship Id="rId4" Type="http://schemas.openxmlformats.org/officeDocument/2006/relationships/image" Target="../media/image59.png"/><Relationship Id="rId5" Type="http://schemas.openxmlformats.org/officeDocument/2006/relationships/image" Target="../media/image64.png"/><Relationship Id="rId6" Type="http://schemas.openxmlformats.org/officeDocument/2006/relationships/image" Target="../media/image51.png"/><Relationship Id="rId7" Type="http://schemas.openxmlformats.org/officeDocument/2006/relationships/image" Target="../media/image55.png"/><Relationship Id="rId8" Type="http://schemas.openxmlformats.org/officeDocument/2006/relationships/image" Target="../media/image7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8.png"/><Relationship Id="rId4" Type="http://schemas.openxmlformats.org/officeDocument/2006/relationships/image" Target="../media/image61.png"/><Relationship Id="rId5" Type="http://schemas.openxmlformats.org/officeDocument/2006/relationships/image" Target="../media/image68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1619250"/>
            <a:ext cx="1160145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Análise de Demonstrações Financeiras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38671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Aula 2: A Estrutura das Demonstrações Contábeis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64820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[Seu Nome/Credenciais]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571500" y="21431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Recap Aula 1: O "Porquê"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6334125" y="21431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Agenda Aula 2: O "O Quê"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952500" y="268605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Vimos o Sistema de Informação Contábil como base para decisões.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52500" y="350520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Entendemos o ambiente (normas, regulação) e o papel do julgamento (políticas contábeis).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715125" y="268605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"Pacote Completo" dos relatórios.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15125" y="3190875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Balanço Patrimonial (A Foto).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15125" y="369570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DRE (O Filme).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15125" y="4200525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DFC (O Caixa).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15125" y="470535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Notas Explicativas (O Contrato).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15125" y="5210175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Contexto Setorial.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336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5528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336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2385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7433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2481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7529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525780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Recap e 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/>
          <p:nvPr/>
        </p:nvSpPr>
        <p:spPr>
          <a:xfrm>
            <a:off x="5619750" y="2281237"/>
            <a:ext cx="952500" cy="47625"/>
          </a:xfrm>
          <a:prstGeom prst="rect">
            <a:avLst/>
          </a:prstGeom>
          <a:solidFill>
            <a:srgbClr val="6C9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895350" y="2614612"/>
            <a:ext cx="10401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"Pacote Completo" das Demonstrações Financeiras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3019425" y="4519612"/>
            <a:ext cx="6153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Entendendo o conjunto de relatórios e como eles se conectam.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14575"/>
            <a:ext cx="3429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314575"/>
            <a:ext cx="3429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314575"/>
            <a:ext cx="34290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95813" y="3324225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Balanço Patrimonial (BP)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66775" y="4305300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Posição estática: Ativos, Passivos, PL. O que a empresa tem e deve em uma data.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05813" y="3324225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Demonstração do Resultado (DRE)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676775" y="4305300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Performance no período. Receitas vs. Despesas. Mostra se a empresa gerou lucro.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615838" y="3324225"/>
            <a:ext cx="25803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Fluxo de Caixa (DFC)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86775" y="3971925"/>
            <a:ext cx="2838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 onde veio e para onde foi o caixa. Explica a máxima: "Lucro não é Caixa".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0250" y="26289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48825" y="262890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As Demonstrações Essenciais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14575"/>
            <a:ext cx="3429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314575"/>
            <a:ext cx="3429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314575"/>
            <a:ext cx="34290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795813" y="3324225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Dem. Mutações do PL (DMPL)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66775" y="4305300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"conta corrente" do acionista. Detalha a variação do PL (Lucros, Dividendos, Capital).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605813" y="3324225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Dem. Valor Adicionado (DVA)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676775" y="4305300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Como a riqueza gerada foi distribuída (governo, empregados, bancos, acionistas).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755856" y="3324225"/>
            <a:ext cx="23002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Notas Explicativas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486775" y="3971925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"contrato". Os detalhes, riscos, políticas contábeis e premissas. Essencial para análise.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0250" y="26289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8825" y="26289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8825" y="262890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As Demonstrações de Suporte e Contexto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/>
        </p:nvSpPr>
        <p:spPr>
          <a:xfrm>
            <a:off x="571500" y="221456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Nenhuma demonstração é uma ilha. Elas estão intrinsecamente conectadas:</a:t>
            </a:r>
            <a:endParaRPr/>
          </a:p>
        </p:txBody>
      </p:sp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952500" y="2976562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</a:t>
            </a: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Lucro Líquido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(da DRE) é a principal fonte de variação do </a:t>
            </a: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Patrimônio Líquido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(no BP, via DMPL).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52500" y="3795712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DFC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explica a variação do saldo de </a:t>
            </a: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Caixa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(do BP inicial para o BP final).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52500" y="4614862"/>
            <a:ext cx="4905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DFC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começa com o </a:t>
            </a: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Lucro Líquido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(da DRE) e ajusta pelas variações de contas do </a:t>
            </a: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BP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(ex: Contas a Receber).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241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433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6248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Como as Demonstrações se Interligam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5619750" y="2709862"/>
            <a:ext cx="952500" cy="47625"/>
          </a:xfrm>
          <a:prstGeom prst="rect">
            <a:avLst/>
          </a:prstGeom>
          <a:solidFill>
            <a:srgbClr val="6C9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1860470" y="3043237"/>
            <a:ext cx="8471058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Balanço Patrimonial (BP)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4086225" y="4090987"/>
            <a:ext cx="4019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 leitura executiva da "foto" da empresa.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43037"/>
            <a:ext cx="2524125" cy="497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1875" y="1443037"/>
            <a:ext cx="2524125" cy="49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5957887" y="3424237"/>
            <a:ext cx="5800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ATIVO = PASSIVO + PATRIMÔNIO LÍQUIDO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962025" y="1833562"/>
            <a:ext cx="1830228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Aplicações de Recursos (Onde investimos)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962025" y="3357562"/>
            <a:ext cx="1743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ATIVO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962025" y="3833812"/>
            <a:ext cx="17430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que a empresa possui e controla (Bens e Direitos) para gerar benefícios futuros.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3962400" y="1833562"/>
            <a:ext cx="1830228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Origens de Recursos (Como nos financiamos)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3962400" y="3357562"/>
            <a:ext cx="17430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PASSIVO + PATRIMÔNIO LÍQUIDO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3962400" y="4405312"/>
            <a:ext cx="17430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 fontes do capital usado para comprar os ativos (Obrigações e Capital Próprio).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442912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A Equação Fundamental (Visão Executiva)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71725"/>
            <a:ext cx="5286375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71725"/>
            <a:ext cx="5286375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962025" y="276225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Circulante (Curto Prazo)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962025" y="328612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que gira no ciclo operacional (geralmente até 12 meses). O foco aqui é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Liquidez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(capacidade de pagar contas).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962025" y="43338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Caixa, Contas a Receber, Estoques, Fornecedores (no Passivo).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724650" y="276225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Não Circulante (Longo Prazo)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24650" y="328612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que permanece na empresa por mais tempo. O foco aqui é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Estrutura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(base para a operação).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724650" y="404812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Imobilizado (Fábricas), Intangíveis (Marcas), Dívidas de Longo Prazo.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Estrutura do BP: Classificação e Prazos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66975"/>
            <a:ext cx="5286375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66975"/>
            <a:ext cx="5286375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962025" y="285750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Capital de Terceiros (Passivo)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962025" y="33813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Financiamento via credores (Bancos, Fornecedores, Governo).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724650" y="285750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Capital Próprio (Patrimônio Líquido)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724650" y="33813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Financiamento via sócios/acionistas (Capital social, Reservas).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1085850" y="41433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1200150" y="4143375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Custo: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Explícito (Juros).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1085850" y="45720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1200150" y="4572000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Risco: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Insolvência (Obrigação de pagar na data).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848475" y="41433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6962775" y="4143375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Custo: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Implícito (Custo de oportunidade do sócio).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6848475" y="45720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962775" y="4572000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Risco: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Risco do negócio (Sócio é o último a receber).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Fontes de Financiamento: De Onde Vem o Dinheiro?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19350"/>
            <a:ext cx="5286375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19350"/>
            <a:ext cx="5286375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962025" y="2809875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Ativo Operacional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962025" y="33337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Os ativos essenciais para o negócio principal "girar".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962025" y="381000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Contas a Receber de clientes, Estoques para venda, Fábrica (Imobilizado).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962025" y="45720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Foco da gestão: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Eficiência (Giro).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6724650" y="2809875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Ativo Financeiro (Não-Operacional)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6724650" y="33337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Ativos não ligados diretamente à operação principal.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6724650" y="381000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Aplicações financeiras de caixa excedente, Investimentos em outras empresas.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6724650" y="45720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Foco da gestão: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Rentabilidade.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Conceitos Executivos: Ativos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76475"/>
            <a:ext cx="5286375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76475"/>
            <a:ext cx="5286375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962025" y="266700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Passivo Oneroso (Dívida)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962025" y="31908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Fontes de financiamento que geram um custo explícito (juros).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962025" y="39528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Empréstimos bancários, Financiamentos, Debêntures.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962025" y="471487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Foco da gestão: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Custo da Dívida.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6724650" y="266700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Passivo Não Oneroso (Operacional)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6724650" y="31908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Financiamento "gratuito" obtido através da própria operação.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6724650" y="39528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Fornecedores (pagar a prazo), Impostos a Pagar, Salários a Pagar.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6724650" y="471487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Foco da gestão: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Prazos de Pagamento.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Conceitos Executivos: Passivos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/>
          <p:nvPr/>
        </p:nvSpPr>
        <p:spPr>
          <a:xfrm>
            <a:off x="2190750" y="2700337"/>
            <a:ext cx="819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Estrutura de Capital: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empresa é conservadora (mais PL) ou agressiva (mais Passivo)? Qual a proporção entre Capital Próprio e de Terceiros?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2190750" y="3519487"/>
            <a:ext cx="819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Grau de Alavancagem: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quanto a empresa depende de dívida onerosa (bancos) para se financiar? Isso aumenta o risco e o retorno.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2190750" y="4338637"/>
            <a:ext cx="819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Perfil de Liquidez: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empresa tem "fôlego" (Ativo Circulante) para pagar suas contas de curto prazo (Passivo Circulante)?</a:t>
            </a:r>
            <a:endParaRPr/>
          </a:p>
        </p:txBody>
      </p:sp>
      <p:pic>
        <p:nvPicPr>
          <p:cNvPr descr="image.png" id="255" name="Google Shape;2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74796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56711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3862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O que o BP revela ao Executivo?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6"/>
          <p:cNvSpPr/>
          <p:nvPr/>
        </p:nvSpPr>
        <p:spPr>
          <a:xfrm>
            <a:off x="5619750" y="2281237"/>
            <a:ext cx="952500" cy="47625"/>
          </a:xfrm>
          <a:prstGeom prst="rect">
            <a:avLst/>
          </a:prstGeom>
          <a:solidFill>
            <a:srgbClr val="6C9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895350" y="2614612"/>
            <a:ext cx="10401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Demonstração do Resultado (DRE)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2886075" y="4519612"/>
            <a:ext cx="6419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O "filme" da performance e lucratividade da empresa no período.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"/>
          <p:cNvSpPr/>
          <p:nvPr/>
        </p:nvSpPr>
        <p:spPr>
          <a:xfrm>
            <a:off x="627161" y="3305175"/>
            <a:ext cx="2381250" cy="714375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7"/>
          <p:cNvSpPr txBox="1"/>
          <p:nvPr/>
        </p:nvSpPr>
        <p:spPr>
          <a:xfrm>
            <a:off x="767655" y="3495675"/>
            <a:ext cx="21002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Receita Bruta</a:t>
            </a:r>
            <a:endParaRPr/>
          </a:p>
        </p:txBody>
      </p:sp>
      <p:sp>
        <p:nvSpPr>
          <p:cNvPr id="273" name="Google Shape;273;p27"/>
          <p:cNvSpPr txBox="1"/>
          <p:nvPr/>
        </p:nvSpPr>
        <p:spPr>
          <a:xfrm>
            <a:off x="627161" y="4171950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(- Deduções)</a:t>
            </a:r>
            <a:endParaRPr/>
          </a:p>
        </p:txBody>
      </p:sp>
      <p:pic>
        <p:nvPicPr>
          <p:cNvPr descr="image.png" id="274" name="Google Shape;27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9883" y="3776662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3479006" y="3305175"/>
            <a:ext cx="2381250" cy="714375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7"/>
          <p:cNvSpPr txBox="1"/>
          <p:nvPr/>
        </p:nvSpPr>
        <p:spPr>
          <a:xfrm>
            <a:off x="3619500" y="3495675"/>
            <a:ext cx="21002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Lucro Bruto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3479006" y="4171950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(- Desp. Operacionais)</a:t>
            </a:r>
            <a:endParaRPr/>
          </a:p>
        </p:txBody>
      </p:sp>
      <p:pic>
        <p:nvPicPr>
          <p:cNvPr descr="image.png" id="278" name="Google Shape;2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1728" y="3776662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7"/>
          <p:cNvSpPr/>
          <p:nvPr/>
        </p:nvSpPr>
        <p:spPr>
          <a:xfrm>
            <a:off x="6330850" y="2990850"/>
            <a:ext cx="2381250" cy="1343025"/>
          </a:xfrm>
          <a:prstGeom prst="roundRect">
            <a:avLst>
              <a:gd fmla="val 56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6471344" y="3181350"/>
            <a:ext cx="2100262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Resultado Operacional (EBIT)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6330850" y="448627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(+/- Resultado Financeiro)</a:t>
            </a:r>
            <a:endParaRPr/>
          </a:p>
        </p:txBody>
      </p:sp>
      <p:pic>
        <p:nvPicPr>
          <p:cNvPr descr="image.png" id="282" name="Google Shape;28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3573" y="3776662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/>
          <p:nvPr/>
        </p:nvSpPr>
        <p:spPr>
          <a:xfrm>
            <a:off x="9182695" y="3305175"/>
            <a:ext cx="2381250" cy="714375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9323189" y="3495675"/>
            <a:ext cx="21002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Lucro Líquido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9182695" y="4171950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(Após Impostos)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Estrutura da DRE: Uma Cascata de Lucratividade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19350"/>
            <a:ext cx="5286375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19350"/>
            <a:ext cx="5286375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8"/>
          <p:cNvSpPr txBox="1"/>
          <p:nvPr/>
        </p:nvSpPr>
        <p:spPr>
          <a:xfrm>
            <a:off x="962025" y="2809875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Por Função (Mais Gerencial)</a:t>
            </a:r>
            <a:endParaRPr/>
          </a:p>
        </p:txBody>
      </p:sp>
      <p:sp>
        <p:nvSpPr>
          <p:cNvPr id="294" name="Google Shape;294;p28"/>
          <p:cNvSpPr txBox="1"/>
          <p:nvPr/>
        </p:nvSpPr>
        <p:spPr>
          <a:xfrm>
            <a:off x="962025" y="33337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Agrupa as despesas por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atividade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ou área.</a:t>
            </a:r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962025" y="381000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Custo dos Produtos Vendidos (CPV), Despesas de Vendas, Despesas Administrativas.</a:t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962025" y="45720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Responde: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"Quanto custou para vender?"</a:t>
            </a:r>
            <a:endParaRPr/>
          </a:p>
        </p:txBody>
      </p:sp>
      <p:sp>
        <p:nvSpPr>
          <p:cNvPr id="297" name="Google Shape;297;p28"/>
          <p:cNvSpPr txBox="1"/>
          <p:nvPr/>
        </p:nvSpPr>
        <p:spPr>
          <a:xfrm>
            <a:off x="6724650" y="2809875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Por Natureza (Mais Contábil)</a:t>
            </a:r>
            <a:endParaRPr/>
          </a:p>
        </p:txBody>
      </p:sp>
      <p:sp>
        <p:nvSpPr>
          <p:cNvPr id="298" name="Google Shape;298;p28"/>
          <p:cNvSpPr txBox="1"/>
          <p:nvPr/>
        </p:nvSpPr>
        <p:spPr>
          <a:xfrm>
            <a:off x="6724650" y="33337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Agrupa as despesas pelo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tipo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gasto.</a:t>
            </a:r>
            <a:endParaRPr/>
          </a:p>
        </p:txBody>
      </p:sp>
      <p:sp>
        <p:nvSpPr>
          <p:cNvPr id="299" name="Google Shape;299;p28"/>
          <p:cNvSpPr txBox="1"/>
          <p:nvPr/>
        </p:nvSpPr>
        <p:spPr>
          <a:xfrm>
            <a:off x="6724650" y="38100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Salários, Matéria-Prima, Aluguéis, Depreciação.</a:t>
            </a:r>
            <a:endParaRPr/>
          </a:p>
        </p:txBody>
      </p:sp>
      <p:sp>
        <p:nvSpPr>
          <p:cNvPr id="300" name="Google Shape;300;p28"/>
          <p:cNvSpPr txBox="1"/>
          <p:nvPr/>
        </p:nvSpPr>
        <p:spPr>
          <a:xfrm>
            <a:off x="6724650" y="42862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Responde: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"Com o que gastamos?"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DRE por Função vs. Por Natureza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81225"/>
            <a:ext cx="5286375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9"/>
          <p:cNvSpPr txBox="1"/>
          <p:nvPr/>
        </p:nvSpPr>
        <p:spPr>
          <a:xfrm>
            <a:off x="952500" y="2562225"/>
            <a:ext cx="45243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9FA"/>
                </a:solidFill>
                <a:latin typeface="Poppins"/>
                <a:ea typeface="Poppins"/>
                <a:cs typeface="Poppins"/>
                <a:sym typeface="Poppins"/>
              </a:rPr>
              <a:t>EBIT</a:t>
            </a:r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952500" y="3514725"/>
            <a:ext cx="4524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Lato"/>
                <a:ea typeface="Lato"/>
                <a:cs typeface="Lato"/>
                <a:sym typeface="Lato"/>
              </a:rPr>
              <a:t>Earnings Before Interest &amp; Taxes</a:t>
            </a:r>
            <a:endParaRPr/>
          </a:p>
        </p:txBody>
      </p:sp>
      <p:sp>
        <p:nvSpPr>
          <p:cNvPr id="309" name="Google Shape;309;p29"/>
          <p:cNvSpPr txBox="1"/>
          <p:nvPr/>
        </p:nvSpPr>
        <p:spPr>
          <a:xfrm>
            <a:off x="6619875" y="2181225"/>
            <a:ext cx="525065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O que é o EBIT?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6619875" y="27717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 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Resultado Operacional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(ou LAJIR - Lucro Antes de Juros e Imposto de Renda).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6619875" y="35337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 que importa?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Mede a performance da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operação principal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do negócio, sem o efeito de:</a:t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6619875" y="5200650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 o "lucro do negócio".</a:t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6743700" y="42957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6858000" y="4295775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Como a empresa se financia (juros).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6743700" y="47244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6858000" y="472440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Onde ela está (impostos).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Conceito-Chave: EBIT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47912"/>
            <a:ext cx="5286375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952500" y="2728912"/>
            <a:ext cx="45243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9FA"/>
                </a:solidFill>
                <a:latin typeface="Poppins"/>
                <a:ea typeface="Poppins"/>
                <a:cs typeface="Poppins"/>
                <a:sym typeface="Poppins"/>
              </a:rPr>
              <a:t>EBITDA</a:t>
            </a:r>
            <a:endParaRPr/>
          </a:p>
        </p:txBody>
      </p:sp>
      <p:sp>
        <p:nvSpPr>
          <p:cNvPr id="324" name="Google Shape;324;p30"/>
          <p:cNvSpPr txBox="1"/>
          <p:nvPr/>
        </p:nvSpPr>
        <p:spPr>
          <a:xfrm>
            <a:off x="952500" y="3681412"/>
            <a:ext cx="4524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Lato"/>
                <a:ea typeface="Lato"/>
                <a:cs typeface="Lato"/>
                <a:sym typeface="Lato"/>
              </a:rPr>
              <a:t>EBIT + Depreciação &amp; Amortização</a:t>
            </a:r>
            <a:endParaRPr/>
          </a:p>
        </p:txBody>
      </p:sp>
      <p:sp>
        <p:nvSpPr>
          <p:cNvPr id="325" name="Google Shape;325;p30"/>
          <p:cNvSpPr txBox="1"/>
          <p:nvPr/>
        </p:nvSpPr>
        <p:spPr>
          <a:xfrm>
            <a:off x="6619875" y="2347912"/>
            <a:ext cx="525065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O que é o EBITDA?</a:t>
            </a:r>
            <a:endParaRPr/>
          </a:p>
        </p:txBody>
      </p:sp>
      <p:sp>
        <p:nvSpPr>
          <p:cNvPr id="326" name="Google Shape;326;p30"/>
          <p:cNvSpPr txBox="1"/>
          <p:nvPr/>
        </p:nvSpPr>
        <p:spPr>
          <a:xfrm>
            <a:off x="6619875" y="2938462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 uma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proxy (imperfeita)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 geração de caixa operacional.</a:t>
            </a:r>
            <a:endParaRPr/>
          </a:p>
        </p:txBody>
      </p:sp>
      <p:sp>
        <p:nvSpPr>
          <p:cNvPr id="327" name="Google Shape;327;p30"/>
          <p:cNvSpPr txBox="1"/>
          <p:nvPr/>
        </p:nvSpPr>
        <p:spPr>
          <a:xfrm>
            <a:off x="6619875" y="3414712"/>
            <a:ext cx="50006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 quê?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Depreciação/Amortização é uma despesa na DRE que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não saiu do caixa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no período. O EBITDA "devolve" esse valor ao resultado.</a:t>
            </a:r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6619875" y="4462462"/>
            <a:ext cx="50006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Lato"/>
                <a:ea typeface="Lato"/>
                <a:cs typeface="Lato"/>
                <a:sym typeface="Lato"/>
              </a:rPr>
              <a:t>ALERTA EXECUTIVO: EBITDA NÃO é caixa. Uma empresa com EBITDA alto pode quebrar se tiver muito investimento (CAPEX) ou dívida.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Conceito-Chave: EBITDA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14537"/>
            <a:ext cx="3429000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014537"/>
            <a:ext cx="3429000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014537"/>
            <a:ext cx="3429000" cy="38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1"/>
          <p:cNvSpPr txBox="1"/>
          <p:nvPr/>
        </p:nvSpPr>
        <p:spPr>
          <a:xfrm>
            <a:off x="1390888" y="3024187"/>
            <a:ext cx="179022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Margem Bruta</a:t>
            </a: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1162050" y="3671887"/>
            <a:ext cx="2247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(Lucro Bruto / Receita Líquida)</a:t>
            </a:r>
            <a:endParaRPr/>
          </a:p>
        </p:txBody>
      </p:sp>
      <p:sp>
        <p:nvSpPr>
          <p:cNvPr id="339" name="Google Shape;339;p31"/>
          <p:cNvSpPr txBox="1"/>
          <p:nvPr/>
        </p:nvSpPr>
        <p:spPr>
          <a:xfrm>
            <a:off x="866775" y="427196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Mede a eficiência produtiva e comercial. Quanto sobra da receita após o custo direto?</a:t>
            </a:r>
            <a:endParaRPr/>
          </a:p>
        </p:txBody>
      </p:sp>
      <p:sp>
        <p:nvSpPr>
          <p:cNvPr id="340" name="Google Shape;340;p31"/>
          <p:cNvSpPr txBox="1"/>
          <p:nvPr/>
        </p:nvSpPr>
        <p:spPr>
          <a:xfrm>
            <a:off x="4605813" y="3024187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Margem Operacional (EBIT)</a:t>
            </a:r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5229225" y="4005262"/>
            <a:ext cx="1733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(EBIT / Receita Líquida)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4676775" y="4605337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Mede a eficiência do negócio como um todo. Quanto a operação gera de lucro?</a:t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8885872" y="3024187"/>
            <a:ext cx="20402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Margem Líquida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8720137" y="3671887"/>
            <a:ext cx="2371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(Lucro Líquido / Receita Líquida)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8486775" y="4271962"/>
            <a:ext cx="2838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Mede o "bottom line". Quanto sobra para o acionista a cada R$ 1 vendido?</a:t>
            </a:r>
            <a:endParaRPr/>
          </a:p>
        </p:txBody>
      </p:sp>
      <p:pic>
        <p:nvPicPr>
          <p:cNvPr descr="image.png" id="346" name="Google Shape;34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4550" y="23288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4550" y="23288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34550" y="2328862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As Margens: Medidas de Eficiência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 txBox="1"/>
          <p:nvPr/>
        </p:nvSpPr>
        <p:spPr>
          <a:xfrm>
            <a:off x="2057400" y="2365176"/>
            <a:ext cx="807720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O lucro que importa é o lucro que se repete.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5243512" y="3930848"/>
            <a:ext cx="17049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— Foco da Análise</a:t>
            </a:r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1676400" y="4759523"/>
            <a:ext cx="8839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DRE contábil pode conter itens "não recorrentes" que distorcem a análise (ex: venda de uma fábrica, multa fiscal inesperada, ganho judicial).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analisar o desempenho real e projetar o futuro, o executivo deve sempre focar no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resultado recorrente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57" name="Google Shape;357;p32"/>
          <p:cNvSpPr/>
          <p:nvPr/>
        </p:nvSpPr>
        <p:spPr>
          <a:xfrm>
            <a:off x="1676400" y="4473773"/>
            <a:ext cx="8839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/>
          <p:cNvSpPr txBox="1"/>
          <p:nvPr/>
        </p:nvSpPr>
        <p:spPr>
          <a:xfrm>
            <a:off x="1581150" y="265092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359" name="Google Shape;359;p32"/>
          <p:cNvSpPr txBox="1"/>
          <p:nvPr/>
        </p:nvSpPr>
        <p:spPr>
          <a:xfrm>
            <a:off x="10220325" y="3549848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360" name="Google Shape;360;p32"/>
          <p:cNvSpPr txBox="1"/>
          <p:nvPr/>
        </p:nvSpPr>
        <p:spPr>
          <a:xfrm>
            <a:off x="571500" y="571500"/>
            <a:ext cx="116014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O Foco do Executivo: Recorrente vs. Não-Recorrente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4235767" y="2390775"/>
            <a:ext cx="372046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Intervalo</a:t>
            </a:r>
            <a:endParaRPr/>
          </a:p>
        </p:txBody>
      </p:sp>
      <p:sp>
        <p:nvSpPr>
          <p:cNvPr id="367" name="Google Shape;367;p33"/>
          <p:cNvSpPr txBox="1"/>
          <p:nvPr/>
        </p:nvSpPr>
        <p:spPr>
          <a:xfrm>
            <a:off x="4324350" y="3800475"/>
            <a:ext cx="3543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15 minutos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2" name="Google Shape;37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4"/>
          <p:cNvSpPr/>
          <p:nvPr/>
        </p:nvSpPr>
        <p:spPr>
          <a:xfrm>
            <a:off x="5619750" y="2281237"/>
            <a:ext cx="952500" cy="47625"/>
          </a:xfrm>
          <a:prstGeom prst="rect">
            <a:avLst/>
          </a:prstGeom>
          <a:solidFill>
            <a:srgbClr val="6C9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4"/>
          <p:cNvSpPr txBox="1"/>
          <p:nvPr/>
        </p:nvSpPr>
        <p:spPr>
          <a:xfrm>
            <a:off x="895350" y="2614612"/>
            <a:ext cx="10401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Demonstração dos Fluxos de Caixa (DFC)</a:t>
            </a:r>
            <a:endParaRPr/>
          </a:p>
        </p:txBody>
      </p:sp>
      <p:sp>
        <p:nvSpPr>
          <p:cNvPr id="375" name="Google Shape;375;p34"/>
          <p:cNvSpPr txBox="1"/>
          <p:nvPr/>
        </p:nvSpPr>
        <p:spPr>
          <a:xfrm>
            <a:off x="3176587" y="4519612"/>
            <a:ext cx="5838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 verdade sobre o caixa: "Profit is an opinion, cash is a fact."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5"/>
          <p:cNvSpPr txBox="1"/>
          <p:nvPr/>
        </p:nvSpPr>
        <p:spPr>
          <a:xfrm>
            <a:off x="2057400" y="1708844"/>
            <a:ext cx="80772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Lucro é opinião, caixa é fato.</a:t>
            </a:r>
            <a:endParaRPr/>
          </a:p>
        </p:txBody>
      </p:sp>
      <p:sp>
        <p:nvSpPr>
          <p:cNvPr id="381" name="Google Shape;381;p35"/>
          <p:cNvSpPr txBox="1"/>
          <p:nvPr/>
        </p:nvSpPr>
        <p:spPr>
          <a:xfrm>
            <a:off x="5186362" y="2634555"/>
            <a:ext cx="18192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— Alerta Executivo</a:t>
            </a:r>
            <a:endParaRPr/>
          </a:p>
        </p:txBody>
      </p:sp>
      <p:sp>
        <p:nvSpPr>
          <p:cNvPr id="382" name="Google Shape;382;p35"/>
          <p:cNvSpPr txBox="1"/>
          <p:nvPr/>
        </p:nvSpPr>
        <p:spPr>
          <a:xfrm>
            <a:off x="1676400" y="3463230"/>
            <a:ext cx="8839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DRE é feita pelo "Regime de Competência" (quando o fato ocorre), não pelo "Regime de Caixa" (quando o dinheiro entra ou sai).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Exemplos de distorção:</a:t>
            </a:r>
            <a:endParaRPr/>
          </a:p>
        </p:txBody>
      </p:sp>
      <p:sp>
        <p:nvSpPr>
          <p:cNvPr id="383" name="Google Shape;383;p35"/>
          <p:cNvSpPr/>
          <p:nvPr/>
        </p:nvSpPr>
        <p:spPr>
          <a:xfrm>
            <a:off x="1676400" y="3177480"/>
            <a:ext cx="8839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5"/>
          <p:cNvSpPr txBox="1"/>
          <p:nvPr/>
        </p:nvSpPr>
        <p:spPr>
          <a:xfrm>
            <a:off x="1581150" y="1994594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385" name="Google Shape;385;p35"/>
          <p:cNvSpPr txBox="1"/>
          <p:nvPr/>
        </p:nvSpPr>
        <p:spPr>
          <a:xfrm>
            <a:off x="10220325" y="2253555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386" name="Google Shape;386;p35"/>
          <p:cNvSpPr txBox="1"/>
          <p:nvPr/>
        </p:nvSpPr>
        <p:spPr>
          <a:xfrm>
            <a:off x="1943100" y="481578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87" name="Google Shape;387;p35"/>
          <p:cNvSpPr txBox="1"/>
          <p:nvPr/>
        </p:nvSpPr>
        <p:spPr>
          <a:xfrm>
            <a:off x="2057400" y="4815780"/>
            <a:ext cx="845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Venda a prazo: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Gera Lucro (Receita), mas zero Caixa.</a:t>
            </a:r>
            <a:endParaRPr/>
          </a:p>
        </p:txBody>
      </p:sp>
      <p:sp>
        <p:nvSpPr>
          <p:cNvPr id="388" name="Google Shape;388;p35"/>
          <p:cNvSpPr txBox="1"/>
          <p:nvPr/>
        </p:nvSpPr>
        <p:spPr>
          <a:xfrm>
            <a:off x="1943100" y="510153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89" name="Google Shape;389;p35"/>
          <p:cNvSpPr txBox="1"/>
          <p:nvPr/>
        </p:nvSpPr>
        <p:spPr>
          <a:xfrm>
            <a:off x="2057400" y="5101530"/>
            <a:ext cx="845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Compra de estoque: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Zero efeito no Lucro, mas grande saída de Caixa.</a:t>
            </a:r>
            <a:endParaRPr/>
          </a:p>
        </p:txBody>
      </p:sp>
      <p:sp>
        <p:nvSpPr>
          <p:cNvPr id="390" name="Google Shape;390;p35"/>
          <p:cNvSpPr txBox="1"/>
          <p:nvPr/>
        </p:nvSpPr>
        <p:spPr>
          <a:xfrm>
            <a:off x="1943100" y="538728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91" name="Google Shape;391;p35"/>
          <p:cNvSpPr txBox="1"/>
          <p:nvPr/>
        </p:nvSpPr>
        <p:spPr>
          <a:xfrm>
            <a:off x="2057400" y="5387280"/>
            <a:ext cx="845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Depreciação: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Reduz o Lucro (Despesa), mas zero efeito no Caixa.</a:t>
            </a:r>
            <a:endParaRPr/>
          </a:p>
        </p:txBody>
      </p:sp>
      <p:sp>
        <p:nvSpPr>
          <p:cNvPr id="392" name="Google Shape;392;p35"/>
          <p:cNvSpPr txBox="1"/>
          <p:nvPr/>
        </p:nvSpPr>
        <p:spPr>
          <a:xfrm>
            <a:off x="1943100" y="567303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93" name="Google Shape;393;p35"/>
          <p:cNvSpPr txBox="1"/>
          <p:nvPr/>
        </p:nvSpPr>
        <p:spPr>
          <a:xfrm>
            <a:off x="2057400" y="5673030"/>
            <a:ext cx="845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Pagamento de empréstimo: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Zero efeito no Lucro, mas grande saída de Caixa.</a:t>
            </a:r>
            <a:endParaRPr/>
          </a:p>
        </p:txBody>
      </p:sp>
      <p:sp>
        <p:nvSpPr>
          <p:cNvPr id="394" name="Google Shape;394;p3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Por que Lucro não é Caixa?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9" name="Google Shape;39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95550"/>
            <a:ext cx="3429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495550"/>
            <a:ext cx="3429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495550"/>
            <a:ext cx="3429000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6"/>
          <p:cNvSpPr txBox="1"/>
          <p:nvPr/>
        </p:nvSpPr>
        <p:spPr>
          <a:xfrm>
            <a:off x="795813" y="3505200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Atividades Operacionais (FCO)</a:t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866775" y="4486275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caixa do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dia-a-dia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do negócio (clientes, fornecedores, salários).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Esperado: POSITIVO.</a:t>
            </a:r>
            <a:endParaRPr/>
          </a:p>
        </p:txBody>
      </p:sp>
      <p:sp>
        <p:nvSpPr>
          <p:cNvPr id="404" name="Google Shape;404;p36"/>
          <p:cNvSpPr txBox="1"/>
          <p:nvPr/>
        </p:nvSpPr>
        <p:spPr>
          <a:xfrm>
            <a:off x="4605813" y="3505200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Atividades de Investimento (FCI)</a:t>
            </a:r>
            <a:endParaRPr/>
          </a:p>
        </p:txBody>
      </p:sp>
      <p:sp>
        <p:nvSpPr>
          <p:cNvPr id="405" name="Google Shape;405;p36"/>
          <p:cNvSpPr txBox="1"/>
          <p:nvPr/>
        </p:nvSpPr>
        <p:spPr>
          <a:xfrm>
            <a:off x="4676775" y="448627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Compra/Venda de Ativos de Longo Prazo (CAPEX, aquisições).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Esperado: NEGATIVO (em crescimento).</a:t>
            </a:r>
            <a:endParaRPr/>
          </a:p>
        </p:txBody>
      </p:sp>
      <p:sp>
        <p:nvSpPr>
          <p:cNvPr id="406" name="Google Shape;406;p36"/>
          <p:cNvSpPr txBox="1"/>
          <p:nvPr/>
        </p:nvSpPr>
        <p:spPr>
          <a:xfrm>
            <a:off x="8415813" y="3505200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Atividades de Financiamento (FCF)</a:t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8486775" y="4486275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Caixa de/para sócios e bancos (dívidas, dividendos, emissão de ações).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(Depende da estratégia).</a:t>
            </a:r>
            <a:endParaRPr/>
          </a:p>
        </p:txBody>
      </p:sp>
      <p:pic>
        <p:nvPicPr>
          <p:cNvPr descr="image.png" id="408" name="Google Shape;408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0250" y="28098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4550" y="280987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8098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6"/>
          <p:cNvSpPr txBox="1"/>
          <p:nvPr/>
        </p:nvSpPr>
        <p:spPr>
          <a:xfrm>
            <a:off x="571500" y="571500"/>
            <a:ext cx="116014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As 3 Atividades: De Onde Vem e Para Onde Vai o Caixa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76475"/>
            <a:ext cx="5286375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76475"/>
            <a:ext cx="5286375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7"/>
          <p:cNvSpPr txBox="1"/>
          <p:nvPr/>
        </p:nvSpPr>
        <p:spPr>
          <a:xfrm>
            <a:off x="962025" y="266700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Método Direto (Intuitivo)</a:t>
            </a:r>
            <a:endParaRPr/>
          </a:p>
        </p:txBody>
      </p:sp>
      <p:sp>
        <p:nvSpPr>
          <p:cNvPr id="419" name="Google Shape;419;p37"/>
          <p:cNvSpPr txBox="1"/>
          <p:nvPr/>
        </p:nvSpPr>
        <p:spPr>
          <a:xfrm>
            <a:off x="962025" y="319087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Mostra as entradas e saídas brutas.</a:t>
            </a:r>
            <a:endParaRPr/>
          </a:p>
        </p:txBody>
      </p:sp>
      <p:sp>
        <p:nvSpPr>
          <p:cNvPr id="420" name="Google Shape;420;p37"/>
          <p:cNvSpPr txBox="1"/>
          <p:nvPr/>
        </p:nvSpPr>
        <p:spPr>
          <a:xfrm>
            <a:off x="962025" y="366712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"Entrou R$ 100 de Clientes. Saiu R$ 50 para Fornecedores. Saiu R$ 20 de Salários."</a:t>
            </a:r>
            <a:endParaRPr/>
          </a:p>
        </p:txBody>
      </p:sp>
      <p:sp>
        <p:nvSpPr>
          <p:cNvPr id="421" name="Google Shape;421;p37"/>
          <p:cNvSpPr txBox="1"/>
          <p:nvPr/>
        </p:nvSpPr>
        <p:spPr>
          <a:xfrm>
            <a:off x="962025" y="442912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 raro de ver, pois exige mais controle.</a:t>
            </a:r>
            <a:endParaRPr/>
          </a:p>
        </p:txBody>
      </p:sp>
      <p:sp>
        <p:nvSpPr>
          <p:cNvPr id="422" name="Google Shape;422;p37"/>
          <p:cNvSpPr txBox="1"/>
          <p:nvPr/>
        </p:nvSpPr>
        <p:spPr>
          <a:xfrm>
            <a:off x="6724650" y="266700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Método Indireto (Foco do Executivo)</a:t>
            </a:r>
            <a:endParaRPr/>
          </a:p>
        </p:txBody>
      </p:sp>
      <p:sp>
        <p:nvSpPr>
          <p:cNvPr id="423" name="Google Shape;423;p37"/>
          <p:cNvSpPr txBox="1"/>
          <p:nvPr/>
        </p:nvSpPr>
        <p:spPr>
          <a:xfrm>
            <a:off x="6724650" y="319087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Mostra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ponte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entre Lucro e Caixa.</a:t>
            </a:r>
            <a:endParaRPr/>
          </a:p>
        </p:txBody>
      </p:sp>
      <p:sp>
        <p:nvSpPr>
          <p:cNvPr id="424" name="Google Shape;424;p37"/>
          <p:cNvSpPr txBox="1"/>
          <p:nvPr/>
        </p:nvSpPr>
        <p:spPr>
          <a:xfrm>
            <a:off x="6724650" y="366712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"Lucro Líquido de R$ 30. (+) Depreciação. (-) Aumento em Contas a Receber..."</a:t>
            </a:r>
            <a:endParaRPr/>
          </a:p>
        </p:txBody>
      </p:sp>
      <p:sp>
        <p:nvSpPr>
          <p:cNvPr id="425" name="Google Shape;425;p37"/>
          <p:cNvSpPr txBox="1"/>
          <p:nvPr/>
        </p:nvSpPr>
        <p:spPr>
          <a:xfrm>
            <a:off x="6724650" y="442912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 o mais usado 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mostra *por que* o lucro não virou caixa.</a:t>
            </a:r>
            <a:endParaRPr/>
          </a:p>
        </p:txBody>
      </p:sp>
      <p:sp>
        <p:nvSpPr>
          <p:cNvPr id="426" name="Google Shape;426;p3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Método Direto vs. Indireto (Foco na Leitura)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8"/>
          <p:cNvSpPr txBox="1"/>
          <p:nvPr/>
        </p:nvSpPr>
        <p:spPr>
          <a:xfrm>
            <a:off x="2190750" y="2543175"/>
            <a:ext cx="819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"Estou gerando caixa nas minhas operações?"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(Olhe o FCO. Se for negativo, é um grande alerta!)</a:t>
            </a:r>
            <a:endParaRPr/>
          </a:p>
        </p:txBody>
      </p:sp>
      <p:sp>
        <p:nvSpPr>
          <p:cNvPr id="432" name="Google Shape;432;p38"/>
          <p:cNvSpPr txBox="1"/>
          <p:nvPr/>
        </p:nvSpPr>
        <p:spPr>
          <a:xfrm>
            <a:off x="2190750" y="3362325"/>
            <a:ext cx="81915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"Quanto estou investindo em CAPEX?"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(Olhe o FCI, item "Aquisição de Imobilizado". O investimento é maior ou menor que a depreciação?)</a:t>
            </a:r>
            <a:endParaRPr/>
          </a:p>
        </p:txBody>
      </p:sp>
      <p:sp>
        <p:nvSpPr>
          <p:cNvPr id="433" name="Google Shape;433;p38"/>
          <p:cNvSpPr txBox="1"/>
          <p:nvPr/>
        </p:nvSpPr>
        <p:spPr>
          <a:xfrm>
            <a:off x="2190750" y="4495800"/>
            <a:ext cx="819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"Estou me endividando para pagar dividendos?"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(Olhe o FCF: Se há entrada de caixa por dívida e saída de caixa por dividendos).</a:t>
            </a:r>
            <a:endParaRPr/>
          </a:p>
        </p:txBody>
      </p:sp>
      <p:pic>
        <p:nvPicPr>
          <p:cNvPr descr="image.png" id="434" name="Google Shape;43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5908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34099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6" name="Google Shape;43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45434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Perguntas que a DFC Responde ao Executivo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2" name="Google Shape;442;p39"/>
          <p:cNvGraphicFramePr/>
          <p:nvPr/>
        </p:nvGraphicFramePr>
        <p:xfrm>
          <a:off x="5715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{AE5C3A9F-CC25-4BC1-AC52-C0A67B19229F}</a:tableStyleId>
              </a:tblPr>
              <a:tblGrid>
                <a:gridCol w="3213050"/>
                <a:gridCol w="2539300"/>
                <a:gridCol w="2518625"/>
                <a:gridCol w="2778025"/>
              </a:tblGrid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Perfil da Empresa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FCO (Operacional)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FCI (Investimento)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FCF (Financiamento)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Empresa Saudável / Madura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Gera caixa na operação, investe em si mesma e paga dívidas/dividendos.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Startup / Crescimento Acelerado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/ +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+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US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"Queima" caixa na operação, investe agressivamente e capta recursos de investidores.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Empresa em Dificuldade (UTI)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US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Operação sangra caixa, vende ativos para sobreviver e toma dívida de emergência.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3" name="Google Shape;443;p39"/>
          <p:cNvSpPr/>
          <p:nvPr/>
        </p:nvSpPr>
        <p:spPr>
          <a:xfrm>
            <a:off x="571500" y="2452687"/>
            <a:ext cx="321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9"/>
          <p:cNvSpPr/>
          <p:nvPr/>
        </p:nvSpPr>
        <p:spPr>
          <a:xfrm>
            <a:off x="3784550" y="2452687"/>
            <a:ext cx="2539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9"/>
          <p:cNvSpPr/>
          <p:nvPr/>
        </p:nvSpPr>
        <p:spPr>
          <a:xfrm>
            <a:off x="6323855" y="2452687"/>
            <a:ext cx="2518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9"/>
          <p:cNvSpPr/>
          <p:nvPr/>
        </p:nvSpPr>
        <p:spPr>
          <a:xfrm>
            <a:off x="8842474" y="2452687"/>
            <a:ext cx="2778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9"/>
          <p:cNvSpPr/>
          <p:nvPr/>
        </p:nvSpPr>
        <p:spPr>
          <a:xfrm>
            <a:off x="571500" y="3062287"/>
            <a:ext cx="321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9"/>
          <p:cNvSpPr/>
          <p:nvPr/>
        </p:nvSpPr>
        <p:spPr>
          <a:xfrm>
            <a:off x="3784550" y="3062287"/>
            <a:ext cx="2539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9"/>
          <p:cNvSpPr/>
          <p:nvPr/>
        </p:nvSpPr>
        <p:spPr>
          <a:xfrm>
            <a:off x="6323855" y="3062287"/>
            <a:ext cx="2518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9"/>
          <p:cNvSpPr/>
          <p:nvPr/>
        </p:nvSpPr>
        <p:spPr>
          <a:xfrm>
            <a:off x="8842474" y="3062287"/>
            <a:ext cx="2778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9"/>
          <p:cNvSpPr/>
          <p:nvPr/>
        </p:nvSpPr>
        <p:spPr>
          <a:xfrm>
            <a:off x="571500" y="36433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9"/>
          <p:cNvSpPr/>
          <p:nvPr/>
        </p:nvSpPr>
        <p:spPr>
          <a:xfrm>
            <a:off x="571500" y="4252912"/>
            <a:ext cx="321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9"/>
          <p:cNvSpPr/>
          <p:nvPr/>
        </p:nvSpPr>
        <p:spPr>
          <a:xfrm>
            <a:off x="3784550" y="4252912"/>
            <a:ext cx="2539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9"/>
          <p:cNvSpPr/>
          <p:nvPr/>
        </p:nvSpPr>
        <p:spPr>
          <a:xfrm>
            <a:off x="6323855" y="4252912"/>
            <a:ext cx="2518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8842474" y="4252912"/>
            <a:ext cx="2778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9"/>
          <p:cNvSpPr/>
          <p:nvPr/>
        </p:nvSpPr>
        <p:spPr>
          <a:xfrm>
            <a:off x="571500" y="48339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9"/>
          <p:cNvSpPr/>
          <p:nvPr/>
        </p:nvSpPr>
        <p:spPr>
          <a:xfrm>
            <a:off x="571500" y="5443537"/>
            <a:ext cx="321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9"/>
          <p:cNvSpPr/>
          <p:nvPr/>
        </p:nvSpPr>
        <p:spPr>
          <a:xfrm>
            <a:off x="3784550" y="5443537"/>
            <a:ext cx="2539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9"/>
          <p:cNvSpPr/>
          <p:nvPr/>
        </p:nvSpPr>
        <p:spPr>
          <a:xfrm>
            <a:off x="6323855" y="5443537"/>
            <a:ext cx="2518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9"/>
          <p:cNvSpPr/>
          <p:nvPr/>
        </p:nvSpPr>
        <p:spPr>
          <a:xfrm>
            <a:off x="8842474" y="5443537"/>
            <a:ext cx="2778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Padrões de Fluxo de Caixa (Cenários)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6" name="Google Shape;46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0"/>
          <p:cNvSpPr/>
          <p:nvPr/>
        </p:nvSpPr>
        <p:spPr>
          <a:xfrm>
            <a:off x="5619750" y="2281237"/>
            <a:ext cx="952500" cy="47625"/>
          </a:xfrm>
          <a:prstGeom prst="rect">
            <a:avLst/>
          </a:prstGeom>
          <a:solidFill>
            <a:srgbClr val="6C9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0"/>
          <p:cNvSpPr txBox="1"/>
          <p:nvPr/>
        </p:nvSpPr>
        <p:spPr>
          <a:xfrm>
            <a:off x="895350" y="2614612"/>
            <a:ext cx="10401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DMPL, DVA e o Poder das Notas Explicativas</a:t>
            </a:r>
            <a:endParaRPr/>
          </a:p>
        </p:txBody>
      </p:sp>
      <p:sp>
        <p:nvSpPr>
          <p:cNvPr id="469" name="Google Shape;469;p40"/>
          <p:cNvSpPr txBox="1"/>
          <p:nvPr/>
        </p:nvSpPr>
        <p:spPr>
          <a:xfrm>
            <a:off x="2933700" y="4519612"/>
            <a:ext cx="632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O "fine print": onde os riscos e os detalhes realmente aparecem.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4" name="Google Shape;47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28787"/>
            <a:ext cx="5286375" cy="440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5" name="Google Shape;47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28787"/>
            <a:ext cx="5286375" cy="44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1"/>
          <p:cNvSpPr txBox="1"/>
          <p:nvPr/>
        </p:nvSpPr>
        <p:spPr>
          <a:xfrm>
            <a:off x="962025" y="2119312"/>
            <a:ext cx="4730591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DMPL (Demonstração das Mutações do PL)</a:t>
            </a:r>
            <a:endParaRPr/>
          </a:p>
        </p:txBody>
      </p:sp>
      <p:sp>
        <p:nvSpPr>
          <p:cNvPr id="477" name="Google Shape;477;p41"/>
          <p:cNvSpPr txBox="1"/>
          <p:nvPr/>
        </p:nvSpPr>
        <p:spPr>
          <a:xfrm>
            <a:off x="962025" y="2976562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 a "conta corrente" do acionista. Mostra o que foi feito com o lucro do período:</a:t>
            </a:r>
            <a:endParaRPr/>
          </a:p>
        </p:txBody>
      </p:sp>
      <p:sp>
        <p:nvSpPr>
          <p:cNvPr id="478" name="Google Shape;478;p41"/>
          <p:cNvSpPr txBox="1"/>
          <p:nvPr/>
        </p:nvSpPr>
        <p:spPr>
          <a:xfrm>
            <a:off x="6724650" y="2119312"/>
            <a:ext cx="4730591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DVA (Demonstração do Valor Adicionado)</a:t>
            </a:r>
            <a:endParaRPr/>
          </a:p>
        </p:txBody>
      </p:sp>
      <p:sp>
        <p:nvSpPr>
          <p:cNvPr id="479" name="Google Shape;479;p41"/>
          <p:cNvSpPr txBox="1"/>
          <p:nvPr/>
        </p:nvSpPr>
        <p:spPr>
          <a:xfrm>
            <a:off x="6724650" y="297656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Uma visão "social" ou de *stakeholders* da riqueza. Mostra como o valor gerado pela empresa foi distribuído entre:</a:t>
            </a:r>
            <a:endParaRPr/>
          </a:p>
        </p:txBody>
      </p:sp>
      <p:sp>
        <p:nvSpPr>
          <p:cNvPr id="480" name="Google Shape;480;p41"/>
          <p:cNvSpPr txBox="1"/>
          <p:nvPr/>
        </p:nvSpPr>
        <p:spPr>
          <a:xfrm>
            <a:off x="1085850" y="37385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81" name="Google Shape;481;p41"/>
          <p:cNvSpPr txBox="1"/>
          <p:nvPr/>
        </p:nvSpPr>
        <p:spPr>
          <a:xfrm>
            <a:off x="1200150" y="3738562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Foi reinvestido na empresa (Reservas)?</a:t>
            </a:r>
            <a:endParaRPr/>
          </a:p>
        </p:txBody>
      </p:sp>
      <p:sp>
        <p:nvSpPr>
          <p:cNvPr id="482" name="Google Shape;482;p41"/>
          <p:cNvSpPr txBox="1"/>
          <p:nvPr/>
        </p:nvSpPr>
        <p:spPr>
          <a:xfrm>
            <a:off x="1085850" y="41671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83" name="Google Shape;483;p41"/>
          <p:cNvSpPr txBox="1"/>
          <p:nvPr/>
        </p:nvSpPr>
        <p:spPr>
          <a:xfrm>
            <a:off x="1200150" y="4167187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Foi distribuído como dividendos?</a:t>
            </a:r>
            <a:endParaRPr/>
          </a:p>
        </p:txBody>
      </p:sp>
      <p:sp>
        <p:nvSpPr>
          <p:cNvPr id="484" name="Google Shape;484;p41"/>
          <p:cNvSpPr txBox="1"/>
          <p:nvPr/>
        </p:nvSpPr>
        <p:spPr>
          <a:xfrm>
            <a:off x="1085850" y="45958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85" name="Google Shape;485;p41"/>
          <p:cNvSpPr txBox="1"/>
          <p:nvPr/>
        </p:nvSpPr>
        <p:spPr>
          <a:xfrm>
            <a:off x="1200150" y="4595812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Houve entrada de novo capital dos sócios?</a:t>
            </a:r>
            <a:endParaRPr/>
          </a:p>
        </p:txBody>
      </p:sp>
      <p:sp>
        <p:nvSpPr>
          <p:cNvPr id="486" name="Google Shape;486;p41"/>
          <p:cNvSpPr txBox="1"/>
          <p:nvPr/>
        </p:nvSpPr>
        <p:spPr>
          <a:xfrm>
            <a:off x="6848475" y="40243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87" name="Google Shape;487;p41"/>
          <p:cNvSpPr txBox="1"/>
          <p:nvPr/>
        </p:nvSpPr>
        <p:spPr>
          <a:xfrm>
            <a:off x="6962775" y="4024312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Empregados (Salários)</a:t>
            </a:r>
            <a:endParaRPr/>
          </a:p>
        </p:txBody>
      </p:sp>
      <p:sp>
        <p:nvSpPr>
          <p:cNvPr id="488" name="Google Shape;488;p41"/>
          <p:cNvSpPr txBox="1"/>
          <p:nvPr/>
        </p:nvSpPr>
        <p:spPr>
          <a:xfrm>
            <a:off x="6848475" y="445293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89" name="Google Shape;489;p41"/>
          <p:cNvSpPr txBox="1"/>
          <p:nvPr/>
        </p:nvSpPr>
        <p:spPr>
          <a:xfrm>
            <a:off x="6962775" y="4452937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Governo (Impostos)</a:t>
            </a:r>
            <a:endParaRPr/>
          </a:p>
        </p:txBody>
      </p:sp>
      <p:sp>
        <p:nvSpPr>
          <p:cNvPr id="490" name="Google Shape;490;p41"/>
          <p:cNvSpPr txBox="1"/>
          <p:nvPr/>
        </p:nvSpPr>
        <p:spPr>
          <a:xfrm>
            <a:off x="6848475" y="48815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91" name="Google Shape;491;p41"/>
          <p:cNvSpPr txBox="1"/>
          <p:nvPr/>
        </p:nvSpPr>
        <p:spPr>
          <a:xfrm>
            <a:off x="6962775" y="4881562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Bancos (Juros)</a:t>
            </a:r>
            <a:endParaRPr/>
          </a:p>
        </p:txBody>
      </p:sp>
      <p:sp>
        <p:nvSpPr>
          <p:cNvPr id="492" name="Google Shape;492;p41"/>
          <p:cNvSpPr txBox="1"/>
          <p:nvPr/>
        </p:nvSpPr>
        <p:spPr>
          <a:xfrm>
            <a:off x="6848475" y="53101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93" name="Google Shape;493;p41"/>
          <p:cNvSpPr txBox="1"/>
          <p:nvPr/>
        </p:nvSpPr>
        <p:spPr>
          <a:xfrm>
            <a:off x="6962775" y="5310187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Acionistas (Dividendos/Lucro Retido)</a:t>
            </a:r>
            <a:endParaRPr/>
          </a:p>
        </p:txBody>
      </p:sp>
      <p:sp>
        <p:nvSpPr>
          <p:cNvPr id="494" name="Google Shape;494;p4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As Demonstrações Acessórias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2"/>
          <p:cNvSpPr txBox="1"/>
          <p:nvPr/>
        </p:nvSpPr>
        <p:spPr>
          <a:xfrm>
            <a:off x="2057400" y="1735633"/>
            <a:ext cx="8077200" cy="19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As Notas Explicativas não são opcionais. Elas são parte integrante das demonstrações.</a:t>
            </a:r>
            <a:endParaRPr/>
          </a:p>
        </p:txBody>
      </p:sp>
      <p:sp>
        <p:nvSpPr>
          <p:cNvPr id="500" name="Google Shape;500;p42"/>
          <p:cNvSpPr txBox="1"/>
          <p:nvPr/>
        </p:nvSpPr>
        <p:spPr>
          <a:xfrm>
            <a:off x="4471987" y="3941266"/>
            <a:ext cx="32480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— Princípio Contábil Fundamental</a:t>
            </a:r>
            <a:endParaRPr/>
          </a:p>
        </p:txBody>
      </p:sp>
      <p:sp>
        <p:nvSpPr>
          <p:cNvPr id="501" name="Google Shape;501;p42"/>
          <p:cNvSpPr txBox="1"/>
          <p:nvPr/>
        </p:nvSpPr>
        <p:spPr>
          <a:xfrm>
            <a:off x="1676400" y="4769941"/>
            <a:ext cx="8839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os números (BP, DRE, DFC) são o "O Quê", as Notas Explicativas são o "Como" e o "Por Quê".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Muitos dos maiores riscos e detalhes relevantes não estão nos números principais, mas sim escondidos nas notas.</a:t>
            </a:r>
            <a:endParaRPr/>
          </a:p>
        </p:txBody>
      </p:sp>
      <p:sp>
        <p:nvSpPr>
          <p:cNvPr id="502" name="Google Shape;502;p42"/>
          <p:cNvSpPr/>
          <p:nvPr/>
        </p:nvSpPr>
        <p:spPr>
          <a:xfrm>
            <a:off x="1676400" y="4484191"/>
            <a:ext cx="8839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2"/>
          <p:cNvSpPr txBox="1"/>
          <p:nvPr/>
        </p:nvSpPr>
        <p:spPr>
          <a:xfrm>
            <a:off x="1581150" y="202138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504" name="Google Shape;504;p42"/>
          <p:cNvSpPr txBox="1"/>
          <p:nvPr/>
        </p:nvSpPr>
        <p:spPr>
          <a:xfrm>
            <a:off x="10220325" y="356026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505" name="Google Shape;505;p4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A Importância das Notas Explicativas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3"/>
          <p:cNvSpPr txBox="1"/>
          <p:nvPr/>
        </p:nvSpPr>
        <p:spPr>
          <a:xfrm>
            <a:off x="2190750" y="2795587"/>
            <a:ext cx="81915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Políticas Contábeis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Como a empresa reconhece sua receita? (Ex: Uma construtora reconhece ao longo da obra ou na entrega da chave? Isso muda tudo!).</a:t>
            </a:r>
            <a:endParaRPr/>
          </a:p>
        </p:txBody>
      </p:sp>
      <p:sp>
        <p:nvSpPr>
          <p:cNvPr id="511" name="Google Shape;511;p43"/>
          <p:cNvSpPr txBox="1"/>
          <p:nvPr/>
        </p:nvSpPr>
        <p:spPr>
          <a:xfrm>
            <a:off x="2190750" y="3929062"/>
            <a:ext cx="81915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Contingências (Passivos Contingentes)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Riscos (fiscais, trabalhistas, ambientais) que a empresa tem chance de perder. É um passivo *não* registrado no balanço, mas que pode "explodir" no futuro.</a:t>
            </a:r>
            <a:endParaRPr/>
          </a:p>
        </p:txBody>
      </p:sp>
      <p:pic>
        <p:nvPicPr>
          <p:cNvPr descr="image.png" id="512" name="Google Shape;51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8432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3" name="Google Shape;51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9766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4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O que o Executivo DEVE Procurar nas Notas (1/2)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4"/>
          <p:cNvSpPr txBox="1"/>
          <p:nvPr/>
        </p:nvSpPr>
        <p:spPr>
          <a:xfrm>
            <a:off x="2190750" y="2795587"/>
            <a:ext cx="81915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Partes Relacionadas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Transações com sócios, diretores ou empresas do mesmo grupo. Elas foram feitas a "preço de mercado"? (Risco de favorecimento).</a:t>
            </a:r>
            <a:endParaRPr/>
          </a:p>
        </p:txBody>
      </p:sp>
      <p:sp>
        <p:nvSpPr>
          <p:cNvPr id="520" name="Google Shape;520;p44"/>
          <p:cNvSpPr txBox="1"/>
          <p:nvPr/>
        </p:nvSpPr>
        <p:spPr>
          <a:xfrm>
            <a:off x="2190750" y="3929062"/>
            <a:ext cx="81915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Covenants (Cláusulas de Dívida)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"Cláusulas de restrição" em contratos de dívida (Ex: "Manter Dívida/EBITDA &lt; 3,0x"). Quebrar um *covenant* pode levar ao vencimento antecipado de *toda* a dívida.</a:t>
            </a:r>
            <a:endParaRPr/>
          </a:p>
        </p:txBody>
      </p:sp>
      <p:pic>
        <p:nvPicPr>
          <p:cNvPr descr="image.png" id="521" name="Google Shape;52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8432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2" name="Google Shape;52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97668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O que o Executivo DEVE Procurar nas Notas (2/2)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5"/>
          <p:cNvSpPr txBox="1"/>
          <p:nvPr/>
        </p:nvSpPr>
        <p:spPr>
          <a:xfrm>
            <a:off x="571500" y="2024062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O Risco Escondido</a:t>
            </a:r>
            <a:endParaRPr/>
          </a:p>
        </p:txBody>
      </p:sp>
      <p:sp>
        <p:nvSpPr>
          <p:cNvPr id="529" name="Google Shape;529;p45"/>
          <p:cNvSpPr txBox="1"/>
          <p:nvPr/>
        </p:nvSpPr>
        <p:spPr>
          <a:xfrm>
            <a:off x="571500" y="261461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Balanço pode mostrar "Dívida Líquida: R$ 500 Milhões". Parece saudável.</a:t>
            </a:r>
            <a:endParaRPr/>
          </a:p>
        </p:txBody>
      </p:sp>
      <p:sp>
        <p:nvSpPr>
          <p:cNvPr id="530" name="Google Shape;530;p45"/>
          <p:cNvSpPr txBox="1"/>
          <p:nvPr/>
        </p:nvSpPr>
        <p:spPr>
          <a:xfrm>
            <a:off x="571500" y="337661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Nota Explicativa de Dívidas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porém, revela um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*covenant*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que exige que a relação Dívida/EBITDA fique abaixo de 3,0x.</a:t>
            </a:r>
            <a:endParaRPr/>
          </a:p>
        </p:txBody>
      </p:sp>
      <p:sp>
        <p:nvSpPr>
          <p:cNvPr id="531" name="Google Shape;531;p45"/>
          <p:cNvSpPr txBox="1"/>
          <p:nvPr/>
        </p:nvSpPr>
        <p:spPr>
          <a:xfrm>
            <a:off x="571500" y="4138612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Alerta Executivo: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o EBITDA da empresa cair (por uma crise de mercado), ela pode quebrar o *covenant* e ter sua dívida inteira vencendo imediatamente, mesmo que o balanço parecesse "bonito".</a:t>
            </a:r>
            <a:endParaRPr/>
          </a:p>
        </p:txBody>
      </p:sp>
      <p:pic>
        <p:nvPicPr>
          <p:cNvPr descr="image.png" id="532" name="Google Shape;5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Exemplo: O Poder de uma Nota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8" name="Google Shape;5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6"/>
          <p:cNvSpPr/>
          <p:nvPr/>
        </p:nvSpPr>
        <p:spPr>
          <a:xfrm>
            <a:off x="5619750" y="2709862"/>
            <a:ext cx="952500" cy="47625"/>
          </a:xfrm>
          <a:prstGeom prst="rect">
            <a:avLst/>
          </a:prstGeom>
          <a:solidFill>
            <a:srgbClr val="6C9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6"/>
          <p:cNvSpPr txBox="1"/>
          <p:nvPr/>
        </p:nvSpPr>
        <p:spPr>
          <a:xfrm>
            <a:off x="3580685" y="3043237"/>
            <a:ext cx="5030628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Contexto é Tudo</a:t>
            </a:r>
            <a:endParaRPr/>
          </a:p>
        </p:txBody>
      </p:sp>
      <p:sp>
        <p:nvSpPr>
          <p:cNvPr id="541" name="Google Shape;541;p46"/>
          <p:cNvSpPr txBox="1"/>
          <p:nvPr/>
        </p:nvSpPr>
        <p:spPr>
          <a:xfrm>
            <a:off x="4133850" y="4090987"/>
            <a:ext cx="3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Setores Diferentes, Leituras Diferentes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6" name="Google Shape;5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85987"/>
            <a:ext cx="3429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7" name="Google Shape;54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85987"/>
            <a:ext cx="3429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8" name="Google Shape;548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85987"/>
            <a:ext cx="3429000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7"/>
          <p:cNvSpPr txBox="1"/>
          <p:nvPr/>
        </p:nvSpPr>
        <p:spPr>
          <a:xfrm>
            <a:off x="1825942" y="3195637"/>
            <a:ext cx="9201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Bancos</a:t>
            </a:r>
            <a:endParaRPr/>
          </a:p>
        </p:txBody>
      </p:sp>
      <p:sp>
        <p:nvSpPr>
          <p:cNvPr id="550" name="Google Shape;550;p47"/>
          <p:cNvSpPr txBox="1"/>
          <p:nvPr/>
        </p:nvSpPr>
        <p:spPr>
          <a:xfrm>
            <a:off x="866775" y="3843337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"estoque" é dinheiro. O "custo" é o juro pago ao captar. A DRE é focada no *spread* financeiro. O Balanço é 99% financeiro.</a:t>
            </a:r>
            <a:endParaRPr/>
          </a:p>
        </p:txBody>
      </p:sp>
      <p:sp>
        <p:nvSpPr>
          <p:cNvPr id="551" name="Google Shape;551;p47"/>
          <p:cNvSpPr txBox="1"/>
          <p:nvPr/>
        </p:nvSpPr>
        <p:spPr>
          <a:xfrm>
            <a:off x="4605813" y="3195637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Concessionárias (Energia, Rodovias)</a:t>
            </a:r>
            <a:endParaRPr/>
          </a:p>
        </p:txBody>
      </p:sp>
      <p:sp>
        <p:nvSpPr>
          <p:cNvPr id="552" name="Google Shape;552;p47"/>
          <p:cNvSpPr txBox="1"/>
          <p:nvPr/>
        </p:nvSpPr>
        <p:spPr>
          <a:xfrm>
            <a:off x="4676775" y="417671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Ativos Imobilizados (ou Intangíveis de Concessão) gigantescos. Foco em regulação, tarifas e prazo de concessão.</a:t>
            </a:r>
            <a:endParaRPr/>
          </a:p>
        </p:txBody>
      </p:sp>
      <p:sp>
        <p:nvSpPr>
          <p:cNvPr id="553" name="Google Shape;553;p47"/>
          <p:cNvSpPr txBox="1"/>
          <p:nvPr/>
        </p:nvSpPr>
        <p:spPr>
          <a:xfrm>
            <a:off x="8415813" y="3195637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Empresas de Tech/Intangível</a:t>
            </a:r>
            <a:endParaRPr/>
          </a:p>
        </p:txBody>
      </p:sp>
      <p:sp>
        <p:nvSpPr>
          <p:cNvPr id="554" name="Google Shape;554;p47"/>
          <p:cNvSpPr txBox="1"/>
          <p:nvPr/>
        </p:nvSpPr>
        <p:spPr>
          <a:xfrm>
            <a:off x="8486775" y="417671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principal ativo (software, P&amp;D, marca) muitas vezes nem está no balanço. DREs com alto gasto em P&amp;D e Marketing.</a:t>
            </a:r>
            <a:endParaRPr/>
          </a:p>
        </p:txBody>
      </p:sp>
      <p:pic>
        <p:nvPicPr>
          <p:cNvPr descr="image.png" id="555" name="Google Shape;555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400" y="25003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6" name="Google Shape;556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8825" y="250031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7" name="Google Shape;557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0" y="25003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Particularidades Setoriais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8"/>
          <p:cNvSpPr txBox="1"/>
          <p:nvPr/>
        </p:nvSpPr>
        <p:spPr>
          <a:xfrm>
            <a:off x="2057400" y="1449883"/>
            <a:ext cx="8077200" cy="19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Comparar a margem de um Varejista com a de uma empresa de Software é inútil e enganoso.</a:t>
            </a:r>
            <a:endParaRPr/>
          </a:p>
        </p:txBody>
      </p:sp>
      <p:sp>
        <p:nvSpPr>
          <p:cNvPr id="564" name="Google Shape;564;p48"/>
          <p:cNvSpPr txBox="1"/>
          <p:nvPr/>
        </p:nvSpPr>
        <p:spPr>
          <a:xfrm>
            <a:off x="5167312" y="3655516"/>
            <a:ext cx="1857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— Alerta de Análise</a:t>
            </a:r>
            <a:endParaRPr/>
          </a:p>
        </p:txBody>
      </p:sp>
      <p:sp>
        <p:nvSpPr>
          <p:cNvPr id="565" name="Google Shape;565;p48"/>
          <p:cNvSpPr txBox="1"/>
          <p:nvPr/>
        </p:nvSpPr>
        <p:spPr>
          <a:xfrm>
            <a:off x="1676400" y="4484191"/>
            <a:ext cx="8839200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análise de demonstrações financeiras SÓ faz sentido quando comparamos a empresa com: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1. Ela mesma no passado (Análise Horizontal).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2. Seus concorrentes diretos no mesmo setor (Benchmark Setorial).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(Isto será o foco da nossa próxima aula de análise de indicadores).</a:t>
            </a:r>
            <a:endParaRPr/>
          </a:p>
        </p:txBody>
      </p:sp>
      <p:sp>
        <p:nvSpPr>
          <p:cNvPr id="566" name="Google Shape;566;p48"/>
          <p:cNvSpPr/>
          <p:nvPr/>
        </p:nvSpPr>
        <p:spPr>
          <a:xfrm>
            <a:off x="1676400" y="4198441"/>
            <a:ext cx="8839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8"/>
          <p:cNvSpPr txBox="1"/>
          <p:nvPr/>
        </p:nvSpPr>
        <p:spPr>
          <a:xfrm>
            <a:off x="1581150" y="173563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568" name="Google Shape;568;p48"/>
          <p:cNvSpPr txBox="1"/>
          <p:nvPr/>
        </p:nvSpPr>
        <p:spPr>
          <a:xfrm>
            <a:off x="10220325" y="327451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6C91C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569" name="Google Shape;569;p48"/>
          <p:cNvSpPr txBox="1"/>
          <p:nvPr/>
        </p:nvSpPr>
        <p:spPr>
          <a:xfrm>
            <a:off x="571500" y="449758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O Alerta Final sobre Benchmarks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9"/>
          <p:cNvSpPr txBox="1"/>
          <p:nvPr/>
        </p:nvSpPr>
        <p:spPr>
          <a:xfrm>
            <a:off x="1714500" y="2667000"/>
            <a:ext cx="914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BP (Foto) =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Revela a Estrutura de Capital (Alavancagem) e a Liquidez (Fôlego).</a:t>
            </a:r>
            <a:endParaRPr/>
          </a:p>
        </p:txBody>
      </p:sp>
      <p:sp>
        <p:nvSpPr>
          <p:cNvPr id="575" name="Google Shape;575;p49"/>
          <p:cNvSpPr txBox="1"/>
          <p:nvPr/>
        </p:nvSpPr>
        <p:spPr>
          <a:xfrm>
            <a:off x="1714500" y="3171825"/>
            <a:ext cx="914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DRE (Filme) =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Mede a Performance e Margens (Foco no EBIT/EBITDA Recorrente).</a:t>
            </a:r>
            <a:endParaRPr/>
          </a:p>
        </p:txBody>
      </p:sp>
      <p:sp>
        <p:nvSpPr>
          <p:cNvPr id="576" name="Google Shape;576;p49"/>
          <p:cNvSpPr txBox="1"/>
          <p:nvPr/>
        </p:nvSpPr>
        <p:spPr>
          <a:xfrm>
            <a:off x="1714500" y="3676650"/>
            <a:ext cx="914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DFC (Caixa) =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É a "verdade" da geração de caixa. Foco total no FCO.</a:t>
            </a:r>
            <a:endParaRPr/>
          </a:p>
        </p:txBody>
      </p:sp>
      <p:sp>
        <p:nvSpPr>
          <p:cNvPr id="577" name="Google Shape;577;p49"/>
          <p:cNvSpPr txBox="1"/>
          <p:nvPr/>
        </p:nvSpPr>
        <p:spPr>
          <a:xfrm>
            <a:off x="1714500" y="4181475"/>
            <a:ext cx="914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Notas (Contrato) =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Onde os riscos reais estão (Covenants, Contingências).</a:t>
            </a:r>
            <a:endParaRPr/>
          </a:p>
        </p:txBody>
      </p:sp>
      <p:sp>
        <p:nvSpPr>
          <p:cNvPr id="578" name="Google Shape;578;p49"/>
          <p:cNvSpPr txBox="1"/>
          <p:nvPr/>
        </p:nvSpPr>
        <p:spPr>
          <a:xfrm>
            <a:off x="1714500" y="4686300"/>
            <a:ext cx="914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Lato"/>
                <a:ea typeface="Lato"/>
                <a:cs typeface="Lato"/>
                <a:sym typeface="Lato"/>
              </a:rPr>
              <a:t>Contexto =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análise só vale ao comparar "laranjas com laranjas" (Benchmark Setorial).</a:t>
            </a:r>
            <a:endParaRPr/>
          </a:p>
        </p:txBody>
      </p:sp>
      <p:pic>
        <p:nvPicPr>
          <p:cNvPr descr="image.png" id="579" name="Google Shape;57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7146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0" name="Google Shape;58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32194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1" name="Google Shape;58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37242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2" name="Google Shape;58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42291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3" name="Google Shape;58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473392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Principais Lições da Aula 2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9" name="Google Shape;58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50"/>
          <p:cNvSpPr/>
          <p:nvPr/>
        </p:nvSpPr>
        <p:spPr>
          <a:xfrm>
            <a:off x="5619750" y="2538412"/>
            <a:ext cx="952500" cy="47625"/>
          </a:xfrm>
          <a:prstGeom prst="rect">
            <a:avLst/>
          </a:prstGeom>
          <a:solidFill>
            <a:srgbClr val="6C9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50"/>
          <p:cNvSpPr txBox="1"/>
          <p:nvPr/>
        </p:nvSpPr>
        <p:spPr>
          <a:xfrm>
            <a:off x="2715577" y="2871787"/>
            <a:ext cx="676084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Próxima Etapa: Aula 3</a:t>
            </a:r>
            <a:endParaRPr/>
          </a:p>
        </p:txBody>
      </p:sp>
      <p:sp>
        <p:nvSpPr>
          <p:cNvPr id="592" name="Google Shape;592;p50"/>
          <p:cNvSpPr txBox="1"/>
          <p:nvPr/>
        </p:nvSpPr>
        <p:spPr>
          <a:xfrm>
            <a:off x="2286000" y="3919537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Das demonstrações para a Ação: Análise de Indicadores (Vertical, Horizontal, Liquidez, Rentabilidade e Endividamento).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1"/>
          <p:cNvSpPr txBox="1"/>
          <p:nvPr/>
        </p:nvSpPr>
        <p:spPr>
          <a:xfrm>
            <a:off x="295275" y="2257425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Perguntas?</a:t>
            </a:r>
            <a:endParaRPr/>
          </a:p>
        </p:txBody>
      </p:sp>
      <p:sp>
        <p:nvSpPr>
          <p:cNvPr id="598" name="Google Shape;598;p51"/>
          <p:cNvSpPr txBox="1"/>
          <p:nvPr/>
        </p:nvSpPr>
        <p:spPr>
          <a:xfrm>
            <a:off x="571500" y="362902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Obrigado.</a:t>
            </a:r>
            <a:endParaRPr/>
          </a:p>
        </p:txBody>
      </p:sp>
      <p:sp>
        <p:nvSpPr>
          <p:cNvPr id="599" name="Google Shape;599;p51"/>
          <p:cNvSpPr txBox="1"/>
          <p:nvPr/>
        </p:nvSpPr>
        <p:spPr>
          <a:xfrm>
            <a:off x="571500" y="4352925"/>
            <a:ext cx="1104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[Seu Nome] | [Seu Email / LinkedIn]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4" name="Google Shape;60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479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5" name="Google Shape;60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60521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6" name="Google Shape;60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481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52"/>
          <p:cNvSpPr/>
          <p:nvPr/>
        </p:nvSpPr>
        <p:spPr>
          <a:xfrm>
            <a:off x="571500" y="33670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52"/>
          <p:cNvSpPr/>
          <p:nvPr/>
        </p:nvSpPr>
        <p:spPr>
          <a:xfrm>
            <a:off x="571500" y="4310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09" name="Google Shape;609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479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52"/>
          <p:cNvSpPr txBox="1"/>
          <p:nvPr/>
        </p:nvSpPr>
        <p:spPr>
          <a:xfrm>
            <a:off x="1666875" y="27551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https://www.nucleodoconhecimento.com.br/wp-content/webp-express/webp-images/doc-root/wp-content/uploads/2021/06/grafico-11.png.webp</a:t>
            </a:r>
            <a:endParaRPr/>
          </a:p>
        </p:txBody>
      </p:sp>
      <p:sp>
        <p:nvSpPr>
          <p:cNvPr id="611" name="Google Shape;611;p52"/>
          <p:cNvSpPr txBox="1"/>
          <p:nvPr/>
        </p:nvSpPr>
        <p:spPr>
          <a:xfrm>
            <a:off x="1666875" y="29884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www.nucleodoconhecimento.com.br</a:t>
            </a:r>
            <a:endParaRPr/>
          </a:p>
        </p:txBody>
      </p:sp>
      <p:pic>
        <p:nvPicPr>
          <p:cNvPr descr="image.png" id="612" name="Google Shape;612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052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52"/>
          <p:cNvSpPr txBox="1"/>
          <p:nvPr/>
        </p:nvSpPr>
        <p:spPr>
          <a:xfrm>
            <a:off x="1666875" y="351948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https://www.investopedia.com/thmb/7VhbIdLJZqkNiUzYAjeVQRrjjDQ=/1500x0/filters:no_upscale():max_bytes(150000):strip_icc()/Microsoft202310-KFinancialStatements-2401d7d8a55e4d5c9c2a3283fe65fdf2.png</a:t>
            </a:r>
            <a:endParaRPr/>
          </a:p>
        </p:txBody>
      </p:sp>
      <p:sp>
        <p:nvSpPr>
          <p:cNvPr id="614" name="Google Shape;614;p52"/>
          <p:cNvSpPr txBox="1"/>
          <p:nvPr/>
        </p:nvSpPr>
        <p:spPr>
          <a:xfrm>
            <a:off x="1666875" y="393858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www.investopedia.com</a:t>
            </a:r>
            <a:endParaRPr/>
          </a:p>
        </p:txBody>
      </p:sp>
      <p:pic>
        <p:nvPicPr>
          <p:cNvPr descr="image.png" id="615" name="Google Shape;615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481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52"/>
          <p:cNvSpPr txBox="1"/>
          <p:nvPr/>
        </p:nvSpPr>
        <p:spPr>
          <a:xfrm>
            <a:off x="1666875" y="446246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https://media.istockphoto.com/id/469451664/photo/cup-of-coffee-on-old-wood-table-vintage-tone.jpg?s=612x612&amp;w=0&amp;k=20&amp;c=MaYxdlLWP6EwWRZAJPnXrdNFhXKmuygAKXWDuJzz_BI=</a:t>
            </a:r>
            <a:endParaRPr/>
          </a:p>
        </p:txBody>
      </p:sp>
      <p:sp>
        <p:nvSpPr>
          <p:cNvPr id="617" name="Google Shape;617;p52"/>
          <p:cNvSpPr txBox="1"/>
          <p:nvPr/>
        </p:nvSpPr>
        <p:spPr>
          <a:xfrm>
            <a:off x="1666875" y="488156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sp>
        <p:nvSpPr>
          <p:cNvPr id="618" name="Google Shape;618;p5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2C54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