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183E0A-CE79-4B54-A3F6-2C77C5BC4DC5}">
  <a:tblStyle styleId="{EA183E0A-CE79-4B54-A3F6-2C77C5BC4DC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1.png"/><Relationship Id="rId7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9.png"/><Relationship Id="rId8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14500"/>
            <a:ext cx="1160145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Análise de Demonstrações </a:t>
            </a:r>
            <a:r>
              <a:rPr b="1" i="0" lang="en-US" sz="525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Financeiras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9243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Aula 1: Sistema de Informação Contábil (SIC) e o Papel da Análise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71487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Professor [Seu Nome]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566987"/>
            <a:ext cx="952500" cy="476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695450" y="2900362"/>
            <a:ext cx="88011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1.1. O Papel da Contabilidade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762250" y="3948112"/>
            <a:ext cx="6667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1F5F2"/>
                </a:solidFill>
                <a:latin typeface="Lato"/>
                <a:ea typeface="Lato"/>
                <a:cs typeface="Lato"/>
                <a:sym typeface="Lato"/>
              </a:rPr>
              <a:t>Além da Obrigação Fiscal: A Contabilidade como Sistema de Informação para Decisão.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1809750" y="5172075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2"/>
                </a:solidFill>
                <a:latin typeface="Lato"/>
                <a:ea typeface="Lato"/>
                <a:cs typeface="Lato"/>
                <a:sym typeface="Lato"/>
              </a:rPr>
              <a:t>A estratégia da empresa é refletida (e validada) nos números contábeis.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2190750" y="21621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2"/>
                </a:solidFill>
                <a:latin typeface="Lato"/>
                <a:ea typeface="Lato"/>
                <a:cs typeface="Lato"/>
                <a:sym typeface="Lato"/>
              </a:rPr>
              <a:t>Gestores Internos: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Onde cortar custos? Qual linha é mais rentável? Preciso de capital de giro? Como avaliar o desempenho da área X?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190750" y="28670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2"/>
                </a:solidFill>
                <a:latin typeface="Lato"/>
                <a:ea typeface="Lato"/>
                <a:cs typeface="Lato"/>
                <a:sym typeface="Lato"/>
              </a:rPr>
              <a:t>Investidores (Equity):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Compro, vendo ou mantenho a ação? A empresa gera lucro e dividendos de forma sustentável? Qual o potencial de crescimento?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2190750" y="35718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2"/>
                </a:solidFill>
                <a:latin typeface="Lato"/>
                <a:ea typeface="Lato"/>
                <a:cs typeface="Lato"/>
                <a:sym typeface="Lato"/>
              </a:rPr>
              <a:t>Credores (Dívida):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empresa tem capacidade de pagar o empréstimo? Qual o nível de endividamento e o risco de crédito?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2190750" y="42767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2"/>
                </a:solidFill>
                <a:latin typeface="Lato"/>
                <a:ea typeface="Lato"/>
                <a:cs typeface="Lato"/>
                <a:sym typeface="Lato"/>
              </a:rPr>
              <a:t>Reguladores (CVM, BACEN):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empresa segue as normas? Há transparência nas operações? Os direitos dos minoritários estão protegidos?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2098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9146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61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3243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Contabilidade e </a:t>
            </a:r>
            <a:r>
              <a:rPr b="0" i="0" lang="en-US" sz="30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Tomada de Decisão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962025" y="29908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962025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É o conjunto de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pessoas, procedimentos, registros e relatórios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que coleta, processa e armazena dados de fatos econômicos, transformando-os em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informação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útil para a tomada de decisão.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724650" y="29908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Papel da Tecnologia (ERP)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724650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Sistemas ERP (Ex: SAP, Oracle, Totvs) integram o SIC com todas as áreas (compras, vendas, financeiro), automatizando o fluxo e permitindo a geração de informação gerencial (ex: Plano de Contas, Centros de Custo).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1.2. O Sistema de Informação </a:t>
            </a:r>
            <a:r>
              <a:rPr b="0" i="0" lang="en-US" sz="30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Contábil (SIC)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21780" y="4143375"/>
            <a:ext cx="208822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Fato Econômico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71500" y="4629150"/>
            <a:ext cx="19887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(Ex: Venda de um produto)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2786795" y="2800350"/>
            <a:ext cx="208822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Documento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2836515" y="3286125"/>
            <a:ext cx="19887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(Ex: Nota Fiscal, Contrato)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051810" y="4143375"/>
            <a:ext cx="208822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Lançamento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101530" y="4629150"/>
            <a:ext cx="19887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(Débito e Crédito no sistema)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7316825" y="2800350"/>
            <a:ext cx="208822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Razão/Balancete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366545" y="3286125"/>
            <a:ext cx="19887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(Agrupamento das contas)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581841" y="4143375"/>
            <a:ext cx="208822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Demonstrações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631560" y="4629150"/>
            <a:ext cx="19887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(Balanço, DRE, DFC, etc.)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1470645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373566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6000675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826569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10530706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O Fluxo Básico do </a:t>
            </a:r>
            <a:r>
              <a:rPr b="0" i="0" lang="en-US" sz="30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SIC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3052762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Lucro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4481512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(Regime de Competência)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334125" y="24336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Lucro ≠ Caixa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334125" y="3062287"/>
            <a:ext cx="52863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Competência: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Reconhece receitas e despesas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quando geradas (fato gerador)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independente do pagamento.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(Ex: Venda a prazo, provisão de 13º, juros a pagar)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É o regime das demonstrações para análise econômica.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334125" y="4262437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Caixa: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Reconhece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quando entra ou sai dinheiro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do caixa.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334125" y="469106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2"/>
                </a:solidFill>
                <a:latin typeface="Lato"/>
                <a:ea typeface="Lato"/>
                <a:cs typeface="Lato"/>
                <a:sym typeface="Lato"/>
              </a:rPr>
              <a:t>Alerta Executivo: O erro mais comum é confundir o Lucro (DRE) com o Caixa disponível (Fluxo de Caixa).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1.3. Regimes Contábeis: </a:t>
            </a:r>
            <a:r>
              <a:rPr b="0" i="0" lang="en-US" sz="30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A Grande Diferença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71500" y="21717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objetivo das normas (CPCs no Brasil, alinhados ao IFRS) não é "burocracia", mas sim: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4362450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2"/>
                </a:solidFill>
                <a:latin typeface="Lato"/>
                <a:ea typeface="Lato"/>
                <a:cs typeface="Lato"/>
                <a:sym typeface="Lato"/>
              </a:rPr>
              <a:t>Temas que mudaram a "cara" das demos: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F1F5F2"/>
                </a:solidFill>
                <a:latin typeface="Lato"/>
                <a:ea typeface="Lato"/>
                <a:cs typeface="Lato"/>
                <a:sym typeface="Lato"/>
              </a:rPr>
              <a:t> Valor Justo (Fair Value), Impairment (Redução ao Valor Recuperável), Arrendamentos (IFRS 16) e Receita de Contratos (IFRS 15).</a:t>
            </a:r>
            <a:endParaRPr/>
          </a:p>
        </p:txBody>
      </p:sp>
      <p:pic>
        <p:nvPicPr>
          <p:cNvPr descr="image.png" id="165" name="Google Shape;1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714375" y="28575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09625" y="28575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Padronização: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Falar a "mesma língua" contábil globalmente.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714375" y="32575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09625" y="32575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Comparabilidade: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Poder comparar a Empresa A com a Empresa B.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14375" y="36576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809625" y="36576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Transparência: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Refletir melhor a realidade econômica (essência sobre a forma).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1.4. Normas (CPC/IFRS): </a:t>
            </a:r>
            <a:r>
              <a:rPr b="0" i="0" lang="en-US" sz="30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A Visão Executiva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1430893" y="3405187"/>
            <a:ext cx="17102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Relevância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6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informação é capaz de influenciar as decisões dos usuários (valor preditivo ou confirmatório).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4975860" y="3405187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Fidedignidade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67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Representa fielmente o fato econômico (completa, neutra e livre de erro material).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520826" y="3405187"/>
            <a:ext cx="27703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Comparabilidade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48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Permite comparação ao longo do tempo (consistência) e com outras empresas do setor.</a:t>
            </a:r>
            <a:endParaRPr/>
          </a:p>
        </p:txBody>
      </p:sp>
      <p:pic>
        <p:nvPicPr>
          <p:cNvPr descr="image.png" id="187" name="Google Shape;18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709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7098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70986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1.5. Qualidade da </a:t>
            </a:r>
            <a:r>
              <a:rPr b="0" i="0" lang="en-US" sz="30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Informação Contábil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096000" cy="871701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571500" y="571500"/>
            <a:ext cx="5200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Limitações e </a:t>
            </a:r>
            <a:r>
              <a:rPr b="0" i="0" lang="en-US" sz="30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Senso Crítico</a:t>
            </a:r>
            <a:endParaRPr/>
          </a:p>
        </p:txBody>
      </p:sp>
      <p:pic>
        <p:nvPicPr>
          <p:cNvPr descr="image.png" id="198" name="Google Shape;19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71500" y="2095500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O Papel das Estimativas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2867025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contabilidade não é uma ciência exata. Envolve julgamento e estimativas: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5343376"/>
            <a:ext cx="5200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Risco: Gerenciamento de Resultados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6572101"/>
            <a:ext cx="4953000" cy="285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São escolhas contábeis (dentro da norma) usadas para "suavizar" lucros ou "bater metas".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7444531"/>
            <a:ext cx="4953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2"/>
                </a:solidFill>
                <a:latin typeface="Lato"/>
                <a:ea typeface="Lato"/>
                <a:cs typeface="Lato"/>
                <a:sym typeface="Lato"/>
              </a:rPr>
              <a:t>Conclusão: Análise de demonstrações não é leitura mecânica de índices; exige senso crítico.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66750" y="371945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762000" y="3720405"/>
            <a:ext cx="476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Provisão para Devedores Duvidosos (PDD)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66750" y="41461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62000" y="4147095"/>
            <a:ext cx="476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Vida útil de um Ativo Imobilizado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66750" y="45728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62000" y="4573785"/>
            <a:ext cx="476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Provisões para Riscos Jurídicos e Contingências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/>
          <p:nvPr/>
        </p:nvSpPr>
        <p:spPr>
          <a:xfrm>
            <a:off x="5619750" y="2295525"/>
            <a:ext cx="952500" cy="476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295275" y="2628900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1.6. As Três "Camadas" da Contabilidade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3757612" y="4533900"/>
            <a:ext cx="46767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1F5F2"/>
                </a:solidFill>
                <a:latin typeface="Lato"/>
                <a:ea typeface="Lato"/>
                <a:cs typeface="Lato"/>
                <a:sym typeface="Lato"/>
              </a:rPr>
              <a:t>Societária, Gerencial e Fiscal: Por que elas diferem?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3" name="Google Shape;223;p23"/>
          <p:cNvGraphicFramePr/>
          <p:nvPr/>
        </p:nvGraphicFramePr>
        <p:xfrm>
          <a:off x="571500" y="15382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{EA183E0A-CE79-4B54-A3F6-2C77C5BC4DC5}</a:tableStyleId>
              </a:tblPr>
              <a:tblGrid>
                <a:gridCol w="1943100"/>
                <a:gridCol w="2837850"/>
                <a:gridCol w="2996350"/>
                <a:gridCol w="3271700"/>
              </a:tblGrid>
              <a:tr h="78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1F5F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Característica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1F5F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Contabilidade Societária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1F5F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Contabilidade Gerencial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1F5F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Contabilidade Fiscal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8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Informar usuários externos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Apoiar decisão interna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Apurar tributos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Usuários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Investidores, Bancos, CVM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Gestores, Diretores, Conselheiros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Governo (Receita Federal)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Normas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CPCs / IFRS (Lei 6.404)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Nenhuma (flexível, foco no negócio)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Regulamento do Imp. Renda (RIR)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Empresa como um todo (passado)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Centros de custo, produtos (futuro)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Lucro Real / Presumido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Exemplo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Balanço Patrimonial (oficial)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Orçamento, Custo ABC, Precificação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LALUR (Livro de Apuração do Lucro Real)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23"/>
          <p:cNvSpPr/>
          <p:nvPr/>
        </p:nvSpPr>
        <p:spPr>
          <a:xfrm>
            <a:off x="571500" y="2447925"/>
            <a:ext cx="19431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2514600" y="2447925"/>
            <a:ext cx="28378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352454" y="2447925"/>
            <a:ext cx="29963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8348811" y="2447925"/>
            <a:ext cx="327168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71500" y="3057525"/>
            <a:ext cx="19431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2514600" y="3057525"/>
            <a:ext cx="28378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5352454" y="3057525"/>
            <a:ext cx="29963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8348811" y="3057525"/>
            <a:ext cx="327168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71500" y="3667125"/>
            <a:ext cx="19431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2514600" y="3667125"/>
            <a:ext cx="28378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352454" y="3667125"/>
            <a:ext cx="29963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8348811" y="3667125"/>
            <a:ext cx="327168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71500" y="4533900"/>
            <a:ext cx="19431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2514600" y="4533900"/>
            <a:ext cx="28378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352454" y="4533900"/>
            <a:ext cx="29963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8348811" y="4533900"/>
            <a:ext cx="327168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5400675"/>
            <a:ext cx="19431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2514600" y="5400675"/>
            <a:ext cx="28378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352454" y="5400675"/>
            <a:ext cx="29963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8348811" y="5400675"/>
            <a:ext cx="327168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Contabilidade: </a:t>
            </a:r>
            <a:r>
              <a:rPr b="0" i="0" lang="en-US" sz="30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Societária vs. Gerencial vs. Fiscal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295275" y="22621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Perguntas?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571500" y="36147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1F5F2"/>
                </a:solidFill>
                <a:latin typeface="Lato"/>
                <a:ea typeface="Lato"/>
                <a:cs typeface="Lato"/>
                <a:sym typeface="Lato"/>
              </a:rPr>
              <a:t>Obrigado pela atenção.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571500" y="43100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[Seu Email] | [Seu Website ou LinkedIn]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9563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/>
          <p:nvPr/>
        </p:nvSpPr>
        <p:spPr>
          <a:xfrm>
            <a:off x="571500" y="38147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1" name="Google Shape;26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956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1666875" y="32027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https://www.mdpi.com/ijfs/ijfs-12-00096/article_deploy/html/images/ijfs-12-00096-g001.png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666875" y="34361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www.mdpi.com</a:t>
            </a:r>
            <a:endParaRPr/>
          </a:p>
        </p:txBody>
      </p:sp>
      <p:pic>
        <p:nvPicPr>
          <p:cNvPr descr="image.png" id="264" name="Google Shape;26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1666875" y="396716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008/453/019/small_2x/strategic-thinking-to-get-business-solution-and-win-competition-leadership-challenge-to-think-about-new-idea-intelligence-or-wisdom-for-success-businessman-thinking-with-chess-piece-on-his-head-vector.jpg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666875" y="43862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1F5F2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